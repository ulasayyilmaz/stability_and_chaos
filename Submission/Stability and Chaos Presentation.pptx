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0" r:id="rId5"/>
    <p:sldMasterId id="214748368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Noto Sans Symbols"/>
      <p:regular r:id="rId23"/>
      <p:bold r:id="rId24"/>
    </p:embeddedFont>
    <p:embeddedFont>
      <p:font typeface="Radio Canada Big"/>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Ulaş Ayyılma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NotoSansSymbols-bold.fntdata"/><Relationship Id="rId23" Type="http://schemas.openxmlformats.org/officeDocument/2006/relationships/font" Target="fonts/NotoSansSymbol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font" Target="fonts/RadioCanadaBig-bold.fntdata"/><Relationship Id="rId25" Type="http://schemas.openxmlformats.org/officeDocument/2006/relationships/font" Target="fonts/RadioCanadaBig-regular.fntdata"/><Relationship Id="rId28" Type="http://schemas.openxmlformats.org/officeDocument/2006/relationships/font" Target="fonts/RadioCanadaBig-boldItalic.fntdata"/><Relationship Id="rId27" Type="http://schemas.openxmlformats.org/officeDocument/2006/relationships/font" Target="fonts/RadioCanadaBig-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10T18:51:56.334">
    <p:pos x="300" y="300"/>
    <p:text>I would have 4 bullet points here: -recurrent inhibitory LIF neurons, sparse connections (10%), constant external excitatory drive delivered to all N neurons, balanced state dynamics(this may be confusing, we need to explain this carefully)</p:text>
  </p:cm>
  <p:cm authorId="0" idx="2" dt="2026-02-10T20:52:06.574">
    <p:pos x="300" y="400"/>
    <p:text>Also, Atilla mentioned: 
Synapses: Current based instantaneous synapse (maybe good to include this)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69f7521ee_2_8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c69f7521ee_2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69f7521ee_2_9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Experimental</a:t>
            </a:r>
            <a:r>
              <a:rPr lang="en"/>
              <a:t>: “decorrelate network state” “change the microstate of the network”</a:t>
            </a:r>
            <a:endParaRPr/>
          </a:p>
        </p:txBody>
      </p:sp>
      <p:sp>
        <p:nvSpPr>
          <p:cNvPr id="170" name="Google Shape;170;g3c69f7521ee_2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69f7521ee_2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c69f7521ee_2_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Diagram: network (circles) Graph/picture, Equations</a:t>
            </a:r>
            <a:endParaRPr/>
          </a:p>
        </p:txBody>
      </p:sp>
      <p:sp>
        <p:nvSpPr>
          <p:cNvPr id="182" name="Google Shape;182;g3c69f7521ee_2_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70a1d91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c70a1d91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How does this all fit together? We are investigating affects of perturbations on dynamical systems. And we are working with recurrent inhibitory neural networks to investigate this phenomena.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c70a1d91c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c70a1d91c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as Roya mentioned, we have a network of 10k recurrently connected inhibitory neurons. This operates operates in a dynamic dictated by the interaction of the constant exc input and the </a:t>
            </a:r>
            <a:r>
              <a:rPr lang="en">
                <a:solidFill>
                  <a:schemeClr val="dk1"/>
                </a:solidFill>
              </a:rPr>
              <a:t>current based instantaneous inhibitory synapses.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So, when we initialize</a:t>
            </a:r>
            <a:r>
              <a:rPr lang="en"/>
              <a:t> voltages of all neurons in a uniform distribution between 0 and 1, 0 being the </a:t>
            </a:r>
            <a:r>
              <a:rPr lang="en"/>
              <a:t>reset potential, and 1 being the threshold for action potential, and when we let the network free run, we observe the voltages of each neuron evolving. For instance, in fig 5, we see an example schematic of an initial voltage vector light blue) of length 10k, and a final voltage vector (dark blue) which stores the voltage values of all neurons after they’ve been integrated 10 milliseconds. (our brian code ran in 0.1 ms intervals.)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now, okay, we have initial and final voltage values as well as all voltages in intermediate time steps. Our research question is the effects of perturbations on this voltage evolution. So we introduce a perturbation (the arrow from light blue to light green vector) that is a random normal vector r multiplied by a scalar epsilon value(r is random normal with mean 0). V1 is our perturbed vector of voltages. Then we free run it and record all the voltages including the final, and we compare the voltage vectors per timestep.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69f7521ee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3c69f7521ee_0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Fig 6 gives us a Voltage difference vs time curve of the original and perturbed network voltages. </a:t>
            </a:r>
            <a:endParaRPr/>
          </a:p>
          <a:p>
            <a:pPr indent="0" lvl="0" marL="0" rtl="0" algn="l">
              <a:spcBef>
                <a:spcPts val="0"/>
              </a:spcBef>
              <a:spcAft>
                <a:spcPts val="0"/>
              </a:spcAft>
              <a:buClr>
                <a:schemeClr val="dk1"/>
              </a:buClr>
              <a:buFont typeface="Arial"/>
              <a:buNone/>
            </a:pPr>
            <a:r>
              <a:rPr lang="en">
                <a:solidFill>
                  <a:schemeClr val="dk1"/>
                </a:solidFill>
              </a:rPr>
              <a:t>Difference calculated as norm of difference of voltage vectors at each time step</a:t>
            </a:r>
            <a:endParaRPr/>
          </a:p>
          <a:p>
            <a:pPr indent="0" lvl="0" marL="0" rtl="0" algn="l">
              <a:spcBef>
                <a:spcPts val="0"/>
              </a:spcBef>
              <a:spcAft>
                <a:spcPts val="0"/>
              </a:spcAft>
              <a:buNone/>
            </a:pPr>
            <a:r>
              <a:rPr lang="en"/>
              <a:t>Here, we observe that the difference at time 0 is quite small at 0.01, but it evolves and approaches 1 as both networks run free.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here we see a “decorrelation” between the dynamics of the original network and the perturbed network we got from the original network. </a:t>
            </a:r>
            <a:endParaRPr/>
          </a:p>
          <a:p>
            <a:pPr indent="0" lvl="0" marL="0" rtl="0" algn="l">
              <a:spcBef>
                <a:spcPts val="0"/>
              </a:spcBef>
              <a:spcAft>
                <a:spcPts val="0"/>
              </a:spcAft>
              <a:buNone/>
            </a:pPr>
            <a:r>
              <a:rPr lang="en"/>
              <a:t>We characterize this behavior with the phrase “diverging trajectories in the voltage space of the network”.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think of voltage space as an N dimensional space where each dimension represents voltage of a neuron. With each time step, the network’s position in this N </a:t>
            </a:r>
            <a:r>
              <a:rPr lang="en"/>
              <a:t>dimensional</a:t>
            </a:r>
            <a:r>
              <a:rPr lang="en"/>
              <a:t> space changes, </a:t>
            </a:r>
            <a:r>
              <a:rPr lang="en"/>
              <a:t>because</a:t>
            </a:r>
            <a:r>
              <a:rPr lang="en"/>
              <a:t> voltage of each neuron likely changes. So our network follows a trajectory in this space.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we want to characterize this behavior of networks taking on different trajectories. </a:t>
            </a:r>
            <a:endParaRPr/>
          </a:p>
        </p:txBody>
      </p:sp>
      <p:sp>
        <p:nvSpPr>
          <p:cNvPr id="222" name="Google Shape;222;g3c69f7521ee_0_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69f7521ee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c69f7521ee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 try different epsilon values. We hypothesize that tiny perturbations will not cause decorrelation of the original network’s trajectory. We see that when epsilon is 0.001, the distance between the original and the perturbed networks decreases to close to 0. This indicates that the original and the perturbed network converge in the same trajectory in voltage space. </a:t>
            </a:r>
            <a:endParaRPr/>
          </a:p>
          <a:p>
            <a:pPr indent="0" lvl="0" marL="0" rtl="0" algn="l">
              <a:spcBef>
                <a:spcPts val="0"/>
              </a:spcBef>
              <a:spcAft>
                <a:spcPts val="0"/>
              </a:spcAft>
              <a:buNone/>
            </a:pPr>
            <a:r>
              <a:rPr lang="en"/>
              <a:t>On the other hand when the epsilon is 0.01, the right figure, we observe that the difference grows quickly. So the original network and the perturbed network finds different trajectories. And by trying epsilons, we also find epsilon values for which the state trajectories sometimes diverge and sometimes converge. </a:t>
            </a:r>
            <a:endParaRPr/>
          </a:p>
        </p:txBody>
      </p:sp>
      <p:sp>
        <p:nvSpPr>
          <p:cNvPr id="236" name="Google Shape;236;g3c69f7521ee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69f7521ee_0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c69f7521ee_0_1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Plot: </a:t>
            </a:r>
            <a:endParaRPr/>
          </a:p>
        </p:txBody>
      </p:sp>
      <p:sp>
        <p:nvSpPr>
          <p:cNvPr id="260" name="Google Shape;260;g3c69f7521ee_0_1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3c1786d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93c1786d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74d75e2a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c74d75e2a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c74d75e2a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c74d75e2a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c70a1d91c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c70a1d91c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Plot: </a:t>
            </a:r>
            <a:endParaRPr/>
          </a:p>
        </p:txBody>
      </p:sp>
      <p:sp>
        <p:nvSpPr>
          <p:cNvPr id="305" name="Google Shape;305;g3c70a1d91c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c69f7521ee_0_6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c69f7521ee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c740ccc96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c740ccc96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c76ef3579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c76ef3579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C9DAF8"/>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3083760" y="165240"/>
            <a:ext cx="5593680" cy="18691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14"/>
          <p:cNvSpPr txBox="1"/>
          <p:nvPr>
            <p:ph idx="1" type="body"/>
          </p:nvPr>
        </p:nvSpPr>
        <p:spPr>
          <a:xfrm>
            <a:off x="228600" y="425880"/>
            <a:ext cx="2583720" cy="438516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55" name="Google Shape;55;p14"/>
          <p:cNvCxnSpPr/>
          <p:nvPr/>
        </p:nvCxnSpPr>
        <p:spPr>
          <a:xfrm flipH="1">
            <a:off x="228600" y="4963680"/>
            <a:ext cx="378000" cy="360"/>
          </a:xfrm>
          <a:prstGeom prst="straightConnector1">
            <a:avLst/>
          </a:prstGeom>
          <a:noFill/>
          <a:ln cap="flat" cmpd="sng" w="38100">
            <a:solidFill>
              <a:srgbClr val="191919"/>
            </a:solidFill>
            <a:prstDash val="solid"/>
            <a:round/>
            <a:headEnd len="sm" w="sm" type="none"/>
            <a:tailEnd len="sm" w="sm" type="none"/>
          </a:ln>
        </p:spPr>
      </p:cxnSp>
      <p:sp>
        <p:nvSpPr>
          <p:cNvPr id="56" name="Google Shape;56;p14"/>
          <p:cNvSpPr/>
          <p:nvPr/>
        </p:nvSpPr>
        <p:spPr>
          <a:xfrm>
            <a:off x="2530800" y="165240"/>
            <a:ext cx="474840" cy="259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 sz="1000" u="none" cap="none" strike="noStrike">
                <a:solidFill>
                  <a:schemeClr val="dk1"/>
                </a:solidFill>
                <a:latin typeface="arial"/>
                <a:ea typeface="arial"/>
                <a:cs typeface="arial"/>
                <a:sym typeface="arial"/>
              </a:rPr>
              <a:t>01.</a:t>
            </a:r>
            <a:endParaRPr b="0" i="0" sz="10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ype="blank">
  <p:cSld name="BLANK">
    <p:bg>
      <p:bgPr>
        <a:solidFill>
          <a:srgbClr val="C9DAF8"/>
        </a:solidFill>
      </p:bgPr>
    </p:bg>
    <p:spTree>
      <p:nvGrpSpPr>
        <p:cNvPr id="57" name="Shape 57"/>
        <p:cNvGrpSpPr/>
        <p:nvPr/>
      </p:nvGrpSpPr>
      <p:grpSpPr>
        <a:xfrm>
          <a:off x="0" y="0"/>
          <a:ext cx="0" cy="0"/>
          <a:chOff x="0" y="0"/>
          <a:chExt cx="0" cy="0"/>
        </a:xfrm>
      </p:grpSpPr>
      <p:sp>
        <p:nvSpPr>
          <p:cNvPr id="58" name="Google Shape;58;p15"/>
          <p:cNvSpPr txBox="1"/>
          <p:nvPr>
            <p:ph type="title"/>
          </p:nvPr>
        </p:nvSpPr>
        <p:spPr>
          <a:xfrm>
            <a:off x="457200" y="228600"/>
            <a:ext cx="6935400" cy="1490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cxnSp>
        <p:nvCxnSpPr>
          <p:cNvPr id="59" name="Google Shape;59;p15"/>
          <p:cNvCxnSpPr/>
          <p:nvPr/>
        </p:nvCxnSpPr>
        <p:spPr>
          <a:xfrm flipH="1">
            <a:off x="8297640" y="423360"/>
            <a:ext cx="378000" cy="360"/>
          </a:xfrm>
          <a:prstGeom prst="straightConnector1">
            <a:avLst/>
          </a:prstGeom>
          <a:noFill/>
          <a:ln cap="flat" cmpd="sng" w="38100">
            <a:solidFill>
              <a:srgbClr val="191919"/>
            </a:solidFill>
            <a:prstDash val="solid"/>
            <a:round/>
            <a:headEnd len="sm" w="sm" type="none"/>
            <a:tailEnd len="sm" w="sm" type="none"/>
          </a:ln>
        </p:spPr>
      </p:cxnSp>
      <p:sp>
        <p:nvSpPr>
          <p:cNvPr id="60" name="Google Shape;60;p1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1" name="Google Shape;61;p15"/>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rgbClr val="C9DAF8"/>
        </a:solidFill>
      </p:bgPr>
    </p:bg>
    <p:spTree>
      <p:nvGrpSpPr>
        <p:cNvPr id="62" name="Shape 62"/>
        <p:cNvGrpSpPr/>
        <p:nvPr/>
      </p:nvGrpSpPr>
      <p:grpSpPr>
        <a:xfrm>
          <a:off x="0" y="0"/>
          <a:ext cx="0" cy="0"/>
          <a:chOff x="0" y="0"/>
          <a:chExt cx="0" cy="0"/>
        </a:xfrm>
      </p:grpSpPr>
      <p:sp>
        <p:nvSpPr>
          <p:cNvPr id="63" name="Google Shape;63;p16"/>
          <p:cNvSpPr txBox="1"/>
          <p:nvPr>
            <p:ph type="title"/>
          </p:nvPr>
        </p:nvSpPr>
        <p:spPr>
          <a:xfrm>
            <a:off x="457200" y="22860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16"/>
          <p:cNvSpPr txBox="1"/>
          <p:nvPr>
            <p:ph idx="1" type="body"/>
          </p:nvPr>
        </p:nvSpPr>
        <p:spPr>
          <a:xfrm>
            <a:off x="457200" y="944280"/>
            <a:ext cx="7703640" cy="41868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65" name="Google Shape;65;p16"/>
          <p:cNvCxnSpPr/>
          <p:nvPr/>
        </p:nvCxnSpPr>
        <p:spPr>
          <a:xfrm flipH="1">
            <a:off x="8297640" y="423360"/>
            <a:ext cx="378000" cy="360"/>
          </a:xfrm>
          <a:prstGeom prst="straightConnector1">
            <a:avLst/>
          </a:prstGeom>
          <a:noFill/>
          <a:ln cap="flat" cmpd="sng" w="38100">
            <a:solidFill>
              <a:srgbClr val="191919"/>
            </a:solidFill>
            <a:prstDash val="solid"/>
            <a:round/>
            <a:headEnd len="sm" w="sm" type="none"/>
            <a:tailEnd len="sm" w="sm" type="none"/>
          </a:ln>
        </p:spPr>
      </p:cxnSp>
      <p:sp>
        <p:nvSpPr>
          <p:cNvPr id="66" name="Google Shape;66;p16"/>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rgbClr val="C9DAF8"/>
        </a:solidFill>
      </p:bgPr>
    </p:bg>
    <p:spTree>
      <p:nvGrpSpPr>
        <p:cNvPr id="67" name="Shape 67"/>
        <p:cNvGrpSpPr/>
        <p:nvPr/>
      </p:nvGrpSpPr>
      <p:grpSpPr>
        <a:xfrm>
          <a:off x="0" y="0"/>
          <a:ext cx="0" cy="0"/>
          <a:chOff x="0" y="0"/>
          <a:chExt cx="0" cy="0"/>
        </a:xfrm>
      </p:grpSpPr>
      <p:sp>
        <p:nvSpPr>
          <p:cNvPr id="68" name="Google Shape;68;p17"/>
          <p:cNvSpPr txBox="1"/>
          <p:nvPr>
            <p:ph type="title"/>
          </p:nvPr>
        </p:nvSpPr>
        <p:spPr>
          <a:xfrm>
            <a:off x="2993760" y="3297960"/>
            <a:ext cx="3466800" cy="17272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 name="Google Shape;69;p17"/>
          <p:cNvSpPr txBox="1"/>
          <p:nvPr>
            <p:ph idx="2" type="title"/>
          </p:nvPr>
        </p:nvSpPr>
        <p:spPr>
          <a:xfrm>
            <a:off x="228600" y="36720"/>
            <a:ext cx="2228040" cy="126936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0" name="Google Shape;70;p17"/>
          <p:cNvSpPr txBox="1"/>
          <p:nvPr>
            <p:ph idx="1" type="body"/>
          </p:nvPr>
        </p:nvSpPr>
        <p:spPr>
          <a:xfrm>
            <a:off x="6628320" y="261720"/>
            <a:ext cx="2286720" cy="46105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1" name="Google Shape;71;p17"/>
          <p:cNvSpPr/>
          <p:nvPr/>
        </p:nvSpPr>
        <p:spPr>
          <a:xfrm>
            <a:off x="8594640" y="75600"/>
            <a:ext cx="359280" cy="1843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en" sz="1000" u="none" strike="noStrike">
                <a:solidFill>
                  <a:schemeClr val="dk1"/>
                </a:solidFill>
                <a:latin typeface="arial"/>
                <a:ea typeface="arial"/>
                <a:cs typeface="arial"/>
                <a:sym typeface="arial"/>
              </a:rPr>
              <a:t>01.</a:t>
            </a:r>
            <a:endParaRPr b="0" sz="1000" u="none" strike="noStrike">
              <a:solidFill>
                <a:srgbClr val="000000"/>
              </a:solidFill>
              <a:latin typeface="Noto Sans Symbols"/>
              <a:ea typeface="Noto Sans Symbols"/>
              <a:cs typeface="Noto Sans Symbols"/>
              <a:sym typeface="Noto Sans Symbols"/>
            </a:endParaRPr>
          </a:p>
        </p:txBody>
      </p:sp>
      <p:sp>
        <p:nvSpPr>
          <p:cNvPr id="72" name="Google Shape;72;p17"/>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rgbClr val="C9DAF8"/>
        </a:solidFill>
      </p:bgPr>
    </p:bg>
    <p:spTree>
      <p:nvGrpSpPr>
        <p:cNvPr id="73" name="Shape 73"/>
        <p:cNvGrpSpPr/>
        <p:nvPr/>
      </p:nvGrpSpPr>
      <p:grpSpPr>
        <a:xfrm>
          <a:off x="0" y="0"/>
          <a:ext cx="0" cy="0"/>
          <a:chOff x="0" y="0"/>
          <a:chExt cx="0" cy="0"/>
        </a:xfrm>
      </p:grpSpPr>
      <p:sp>
        <p:nvSpPr>
          <p:cNvPr id="74" name="Google Shape;74;p18"/>
          <p:cNvSpPr txBox="1"/>
          <p:nvPr>
            <p:ph hasCustomPrompt="1" type="title"/>
          </p:nvPr>
        </p:nvSpPr>
        <p:spPr>
          <a:xfrm>
            <a:off x="1284120" y="1953000"/>
            <a:ext cx="6575760" cy="799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t>xx%</a:t>
            </a:r>
          </a:p>
        </p:txBody>
      </p:sp>
      <p:sp>
        <p:nvSpPr>
          <p:cNvPr id="75" name="Google Shape;75;p18"/>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rgbClr val="C9DAF8"/>
        </a:solidFill>
      </p:bgPr>
    </p:bg>
    <p:spTree>
      <p:nvGrpSpPr>
        <p:cNvPr id="76" name="Shape 76"/>
        <p:cNvGrpSpPr/>
        <p:nvPr/>
      </p:nvGrpSpPr>
      <p:grpSpPr>
        <a:xfrm>
          <a:off x="0" y="0"/>
          <a:ext cx="0" cy="0"/>
          <a:chOff x="0" y="0"/>
          <a:chExt cx="0" cy="0"/>
        </a:xfrm>
      </p:grpSpPr>
      <p:sp>
        <p:nvSpPr>
          <p:cNvPr id="77" name="Google Shape;77;p19"/>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2_1">
  <p:cSld name="BLANK_1_1_1_1_2_1">
    <p:bg>
      <p:bgPr>
        <a:solidFill>
          <a:srgbClr val="C9DAF8"/>
        </a:solidFill>
      </p:bgPr>
    </p:bg>
    <p:spTree>
      <p:nvGrpSpPr>
        <p:cNvPr id="78" name="Shape 78"/>
        <p:cNvGrpSpPr/>
        <p:nvPr/>
      </p:nvGrpSpPr>
      <p:grpSpPr>
        <a:xfrm>
          <a:off x="0" y="0"/>
          <a:ext cx="0" cy="0"/>
          <a:chOff x="0" y="0"/>
          <a:chExt cx="0" cy="0"/>
        </a:xfrm>
      </p:grpSpPr>
      <p:sp>
        <p:nvSpPr>
          <p:cNvPr id="79" name="Google Shape;79;p20"/>
          <p:cNvSpPr txBox="1"/>
          <p:nvPr>
            <p:ph type="title"/>
          </p:nvPr>
        </p:nvSpPr>
        <p:spPr>
          <a:xfrm>
            <a:off x="457200" y="228600"/>
            <a:ext cx="84578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20"/>
          <p:cNvSpPr txBox="1"/>
          <p:nvPr>
            <p:ph idx="2" type="title"/>
          </p:nvPr>
        </p:nvSpPr>
        <p:spPr>
          <a:xfrm>
            <a:off x="3040200" y="396540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1" name="Google Shape;81;p20"/>
          <p:cNvSpPr txBox="1"/>
          <p:nvPr>
            <p:ph idx="3" type="title"/>
          </p:nvPr>
        </p:nvSpPr>
        <p:spPr>
          <a:xfrm>
            <a:off x="3040200" y="238644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p20"/>
          <p:cNvSpPr txBox="1"/>
          <p:nvPr>
            <p:ph idx="4" type="title"/>
          </p:nvPr>
        </p:nvSpPr>
        <p:spPr>
          <a:xfrm>
            <a:off x="3040200" y="1610280"/>
            <a:ext cx="86400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3" name="Google Shape;83;p20"/>
          <p:cNvSpPr txBox="1"/>
          <p:nvPr>
            <p:ph idx="5" type="title"/>
          </p:nvPr>
        </p:nvSpPr>
        <p:spPr>
          <a:xfrm>
            <a:off x="3040200" y="317592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4" name="Google Shape;84;p20"/>
          <p:cNvSpPr txBox="1"/>
          <p:nvPr>
            <p:ph idx="6" type="title"/>
          </p:nvPr>
        </p:nvSpPr>
        <p:spPr>
          <a:xfrm>
            <a:off x="5210280" y="239724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5" name="Google Shape;85;p20"/>
          <p:cNvSpPr txBox="1"/>
          <p:nvPr>
            <p:ph idx="7" type="title"/>
          </p:nvPr>
        </p:nvSpPr>
        <p:spPr>
          <a:xfrm>
            <a:off x="5210280" y="318672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20"/>
          <p:cNvSpPr txBox="1"/>
          <p:nvPr>
            <p:ph idx="8" type="title"/>
          </p:nvPr>
        </p:nvSpPr>
        <p:spPr>
          <a:xfrm>
            <a:off x="5210280" y="397620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7" name="Google Shape;87;p20"/>
          <p:cNvSpPr txBox="1"/>
          <p:nvPr>
            <p:ph idx="9" type="title"/>
          </p:nvPr>
        </p:nvSpPr>
        <p:spPr>
          <a:xfrm>
            <a:off x="5210280" y="162108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cxnSp>
        <p:nvCxnSpPr>
          <p:cNvPr id="88" name="Google Shape;88;p20"/>
          <p:cNvCxnSpPr/>
          <p:nvPr/>
        </p:nvCxnSpPr>
        <p:spPr>
          <a:xfrm flipH="1">
            <a:off x="8297640" y="423360"/>
            <a:ext cx="378000" cy="360"/>
          </a:xfrm>
          <a:prstGeom prst="straightConnector1">
            <a:avLst/>
          </a:prstGeom>
          <a:noFill/>
          <a:ln cap="flat" cmpd="sng" w="38100">
            <a:solidFill>
              <a:srgbClr val="191919"/>
            </a:solidFill>
            <a:prstDash val="solid"/>
            <a:round/>
            <a:headEnd len="sm" w="sm" type="none"/>
            <a:tailEnd len="sm" w="sm" type="none"/>
          </a:ln>
        </p:spPr>
      </p:cxnSp>
      <p:sp>
        <p:nvSpPr>
          <p:cNvPr id="89" name="Google Shape;89;p20"/>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p:cSld name="ONE_COLUMN_TEXT_1">
    <p:bg>
      <p:bgPr>
        <a:solidFill>
          <a:srgbClr val="C9DAF8"/>
        </a:solidFill>
      </p:bgPr>
    </p:bg>
    <p:spTree>
      <p:nvGrpSpPr>
        <p:cNvPr id="90" name="Shape 90"/>
        <p:cNvGrpSpPr/>
        <p:nvPr/>
      </p:nvGrpSpPr>
      <p:grpSpPr>
        <a:xfrm>
          <a:off x="0" y="0"/>
          <a:ext cx="0" cy="0"/>
          <a:chOff x="0" y="0"/>
          <a:chExt cx="0" cy="0"/>
        </a:xfrm>
      </p:grpSpPr>
      <p:sp>
        <p:nvSpPr>
          <p:cNvPr id="91" name="Google Shape;91;p21"/>
          <p:cNvSpPr txBox="1"/>
          <p:nvPr>
            <p:ph type="title"/>
          </p:nvPr>
        </p:nvSpPr>
        <p:spPr>
          <a:xfrm>
            <a:off x="457200" y="228600"/>
            <a:ext cx="5029920" cy="199152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2" name="Google Shape;92;p21"/>
          <p:cNvSpPr txBox="1"/>
          <p:nvPr>
            <p:ph idx="1" type="body"/>
          </p:nvPr>
        </p:nvSpPr>
        <p:spPr>
          <a:xfrm>
            <a:off x="1139040" y="2220840"/>
            <a:ext cx="4294440" cy="2723400"/>
          </a:xfrm>
          <a:prstGeom prst="rect">
            <a:avLst/>
          </a:prstGeom>
          <a:noFill/>
          <a:ln>
            <a:noFill/>
          </a:ln>
        </p:spPr>
        <p:txBody>
          <a:bodyPr anchorCtr="0" anchor="b"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3" name="Google Shape;93;p21"/>
          <p:cNvSpPr txBox="1"/>
          <p:nvPr>
            <p:ph idx="2" type="body"/>
          </p:nvPr>
        </p:nvSpPr>
        <p:spPr>
          <a:xfrm>
            <a:off x="5715720" y="0"/>
            <a:ext cx="342792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94" name="Google Shape;94;p21"/>
          <p:cNvCxnSpPr/>
          <p:nvPr/>
        </p:nvCxnSpPr>
        <p:spPr>
          <a:xfrm flipH="1">
            <a:off x="228600" y="4733640"/>
            <a:ext cx="378000" cy="360"/>
          </a:xfrm>
          <a:prstGeom prst="straightConnector1">
            <a:avLst/>
          </a:prstGeom>
          <a:noFill/>
          <a:ln cap="flat" cmpd="sng" w="38100">
            <a:solidFill>
              <a:srgbClr val="191919"/>
            </a:solidFill>
            <a:prstDash val="solid"/>
            <a:round/>
            <a:headEnd len="sm" w="sm" type="none"/>
            <a:tailEnd len="sm" w="sm" type="none"/>
          </a:ln>
        </p:spPr>
      </p:cxnSp>
      <p:sp>
        <p:nvSpPr>
          <p:cNvPr id="95" name="Google Shape;95;p21"/>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1">
  <p:cSld name="TITLE_ONLY_1">
    <p:bg>
      <p:bgPr>
        <a:solidFill>
          <a:srgbClr val="C9DAF8"/>
        </a:solidFill>
      </p:bgPr>
    </p:bg>
    <p:spTree>
      <p:nvGrpSpPr>
        <p:cNvPr id="96" name="Shape 96"/>
        <p:cNvGrpSpPr/>
        <p:nvPr/>
      </p:nvGrpSpPr>
      <p:grpSpPr>
        <a:xfrm>
          <a:off x="0" y="0"/>
          <a:ext cx="0" cy="0"/>
          <a:chOff x="0" y="0"/>
          <a:chExt cx="0" cy="0"/>
        </a:xfrm>
      </p:grpSpPr>
      <p:sp>
        <p:nvSpPr>
          <p:cNvPr id="97" name="Google Shape;97;p22"/>
          <p:cNvSpPr txBox="1"/>
          <p:nvPr>
            <p:ph type="title"/>
          </p:nvPr>
        </p:nvSpPr>
        <p:spPr>
          <a:xfrm>
            <a:off x="457200" y="22860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8" name="Google Shape;98;p22"/>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2">
  <p:cSld name="BLANK_1_1_1_2">
    <p:bg>
      <p:bgPr>
        <a:solidFill>
          <a:srgbClr val="C9DAF8"/>
        </a:solidFill>
      </p:bgPr>
    </p:bg>
    <p:spTree>
      <p:nvGrpSpPr>
        <p:cNvPr id="99" name="Shape 99"/>
        <p:cNvGrpSpPr/>
        <p:nvPr/>
      </p:nvGrpSpPr>
      <p:grpSpPr>
        <a:xfrm>
          <a:off x="0" y="0"/>
          <a:ext cx="0" cy="0"/>
          <a:chOff x="0" y="0"/>
          <a:chExt cx="0" cy="0"/>
        </a:xfrm>
      </p:grpSpPr>
      <p:sp>
        <p:nvSpPr>
          <p:cNvPr id="100" name="Google Shape;100;p23"/>
          <p:cNvSpPr txBox="1"/>
          <p:nvPr>
            <p:ph type="title"/>
          </p:nvPr>
        </p:nvSpPr>
        <p:spPr>
          <a:xfrm>
            <a:off x="457200" y="2304720"/>
            <a:ext cx="67860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1" name="Google Shape;101;p23"/>
          <p:cNvSpPr txBox="1"/>
          <p:nvPr>
            <p:ph idx="2" type="title"/>
          </p:nvPr>
        </p:nvSpPr>
        <p:spPr>
          <a:xfrm>
            <a:off x="457200" y="1072440"/>
            <a:ext cx="67752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2" name="Google Shape;102;p23"/>
          <p:cNvSpPr txBox="1"/>
          <p:nvPr>
            <p:ph idx="3" type="title"/>
          </p:nvPr>
        </p:nvSpPr>
        <p:spPr>
          <a:xfrm>
            <a:off x="457200" y="3537000"/>
            <a:ext cx="67860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3" name="Google Shape;103;p23"/>
          <p:cNvSpPr txBox="1"/>
          <p:nvPr>
            <p:ph idx="4" type="title"/>
          </p:nvPr>
        </p:nvSpPr>
        <p:spPr>
          <a:xfrm>
            <a:off x="457200" y="228600"/>
            <a:ext cx="621072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 name="Google Shape;104;p23"/>
          <p:cNvSpPr txBox="1"/>
          <p:nvPr>
            <p:ph idx="1" type="body"/>
          </p:nvPr>
        </p:nvSpPr>
        <p:spPr>
          <a:xfrm>
            <a:off x="6745680" y="293760"/>
            <a:ext cx="2169360" cy="216936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5" name="Google Shape;105;p23"/>
          <p:cNvSpPr txBox="1"/>
          <p:nvPr>
            <p:ph idx="5" type="body"/>
          </p:nvPr>
        </p:nvSpPr>
        <p:spPr>
          <a:xfrm>
            <a:off x="6745680" y="2745360"/>
            <a:ext cx="2169360" cy="216936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6" name="Google Shape;106;p23"/>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
  <p:cSld name="BLANK_1_1_1_1_1">
    <p:bg>
      <p:bgPr>
        <a:solidFill>
          <a:srgbClr val="C9DAF8"/>
        </a:solidFill>
      </p:bgPr>
    </p:bg>
    <p:spTree>
      <p:nvGrpSpPr>
        <p:cNvPr id="107" name="Shape 107"/>
        <p:cNvGrpSpPr/>
        <p:nvPr/>
      </p:nvGrpSpPr>
      <p:grpSpPr>
        <a:xfrm>
          <a:off x="0" y="0"/>
          <a:ext cx="0" cy="0"/>
          <a:chOff x="0" y="0"/>
          <a:chExt cx="0" cy="0"/>
        </a:xfrm>
      </p:grpSpPr>
      <p:sp>
        <p:nvSpPr>
          <p:cNvPr id="108" name="Google Shape;108;p24"/>
          <p:cNvSpPr txBox="1"/>
          <p:nvPr>
            <p:ph type="title"/>
          </p:nvPr>
        </p:nvSpPr>
        <p:spPr>
          <a:xfrm>
            <a:off x="457200" y="22860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9" name="Google Shape;109;p24"/>
          <p:cNvSpPr txBox="1"/>
          <p:nvPr>
            <p:ph idx="2" type="title"/>
          </p:nvPr>
        </p:nvSpPr>
        <p:spPr>
          <a:xfrm>
            <a:off x="4829400" y="317232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0" name="Google Shape;110;p24"/>
          <p:cNvSpPr txBox="1"/>
          <p:nvPr>
            <p:ph idx="3" type="title"/>
          </p:nvPr>
        </p:nvSpPr>
        <p:spPr>
          <a:xfrm>
            <a:off x="457200" y="317232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1" name="Google Shape;111;p24"/>
          <p:cNvSpPr txBox="1"/>
          <p:nvPr>
            <p:ph idx="4" type="title"/>
          </p:nvPr>
        </p:nvSpPr>
        <p:spPr>
          <a:xfrm>
            <a:off x="457920" y="2206440"/>
            <a:ext cx="86400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2" name="Google Shape;112;p24"/>
          <p:cNvSpPr txBox="1"/>
          <p:nvPr>
            <p:ph idx="5" type="title"/>
          </p:nvPr>
        </p:nvSpPr>
        <p:spPr>
          <a:xfrm>
            <a:off x="4829400" y="220608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3" name="Google Shape;113;p24"/>
          <p:cNvSpPr txBox="1"/>
          <p:nvPr>
            <p:ph idx="6" type="title"/>
          </p:nvPr>
        </p:nvSpPr>
        <p:spPr>
          <a:xfrm>
            <a:off x="457200" y="123372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4" name="Google Shape;114;p24"/>
          <p:cNvSpPr txBox="1"/>
          <p:nvPr>
            <p:ph idx="7" type="title"/>
          </p:nvPr>
        </p:nvSpPr>
        <p:spPr>
          <a:xfrm>
            <a:off x="4829400" y="1233720"/>
            <a:ext cx="865440" cy="31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5" name="Google Shape;115;p24"/>
          <p:cNvSpPr txBox="1"/>
          <p:nvPr>
            <p:ph idx="1" type="body"/>
          </p:nvPr>
        </p:nvSpPr>
        <p:spPr>
          <a:xfrm>
            <a:off x="0" y="4006800"/>
            <a:ext cx="9143640" cy="11365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6" name="Google Shape;116;p24"/>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
  <p:cSld name="BLANK_1_1_1_1_1_1">
    <p:bg>
      <p:bgPr>
        <a:solidFill>
          <a:srgbClr val="C9DAF8"/>
        </a:solidFill>
      </p:bgPr>
    </p:bg>
    <p:spTree>
      <p:nvGrpSpPr>
        <p:cNvPr id="117" name="Shape 117"/>
        <p:cNvGrpSpPr/>
        <p:nvPr/>
      </p:nvGrpSpPr>
      <p:grpSpPr>
        <a:xfrm>
          <a:off x="0" y="0"/>
          <a:ext cx="0" cy="0"/>
          <a:chOff x="0" y="0"/>
          <a:chExt cx="0" cy="0"/>
        </a:xfrm>
      </p:grpSpPr>
      <p:sp>
        <p:nvSpPr>
          <p:cNvPr id="118" name="Google Shape;118;p25"/>
          <p:cNvSpPr txBox="1"/>
          <p:nvPr>
            <p:ph type="title"/>
          </p:nvPr>
        </p:nvSpPr>
        <p:spPr>
          <a:xfrm>
            <a:off x="546480" y="767160"/>
            <a:ext cx="3493440" cy="75456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9" name="Google Shape;119;p25"/>
          <p:cNvSpPr txBox="1"/>
          <p:nvPr>
            <p:ph idx="2" type="title"/>
          </p:nvPr>
        </p:nvSpPr>
        <p:spPr>
          <a:xfrm>
            <a:off x="5421600" y="3148920"/>
            <a:ext cx="3493440" cy="75456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0" name="Google Shape;120;p25"/>
          <p:cNvSpPr txBox="1"/>
          <p:nvPr>
            <p:ph idx="1" type="body"/>
          </p:nvPr>
        </p:nvSpPr>
        <p:spPr>
          <a:xfrm>
            <a:off x="4080240" y="678240"/>
            <a:ext cx="2788920" cy="132516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1" name="Google Shape;121;p25"/>
          <p:cNvSpPr txBox="1"/>
          <p:nvPr>
            <p:ph idx="3" type="body"/>
          </p:nvPr>
        </p:nvSpPr>
        <p:spPr>
          <a:xfrm>
            <a:off x="7054200" y="678240"/>
            <a:ext cx="1542960" cy="132516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2" name="Google Shape;122;p25"/>
          <p:cNvSpPr txBox="1"/>
          <p:nvPr>
            <p:ph idx="4" type="body"/>
          </p:nvPr>
        </p:nvSpPr>
        <p:spPr>
          <a:xfrm>
            <a:off x="546480" y="3098880"/>
            <a:ext cx="1542960" cy="132516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3" name="Google Shape;123;p25"/>
          <p:cNvSpPr txBox="1"/>
          <p:nvPr>
            <p:ph idx="5" type="body"/>
          </p:nvPr>
        </p:nvSpPr>
        <p:spPr>
          <a:xfrm>
            <a:off x="2280960" y="3098880"/>
            <a:ext cx="2788920" cy="132516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4" name="Google Shape;124;p25"/>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rgbClr val="C9DAF8"/>
        </a:solidFill>
      </p:bgPr>
    </p:bg>
    <p:spTree>
      <p:nvGrpSpPr>
        <p:cNvPr id="125" name="Shape 125"/>
        <p:cNvGrpSpPr/>
        <p:nvPr/>
      </p:nvGrpSpPr>
      <p:grpSpPr>
        <a:xfrm>
          <a:off x="0" y="0"/>
          <a:ext cx="0" cy="0"/>
          <a:chOff x="0" y="0"/>
          <a:chExt cx="0" cy="0"/>
        </a:xfrm>
      </p:grpSpPr>
      <p:sp>
        <p:nvSpPr>
          <p:cNvPr id="126" name="Google Shape;126;p26"/>
          <p:cNvSpPr txBox="1"/>
          <p:nvPr>
            <p:ph type="title"/>
          </p:nvPr>
        </p:nvSpPr>
        <p:spPr>
          <a:xfrm>
            <a:off x="417960" y="131040"/>
            <a:ext cx="5089680" cy="10584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7" name="Google Shape;127;p26"/>
          <p:cNvSpPr/>
          <p:nvPr/>
        </p:nvSpPr>
        <p:spPr>
          <a:xfrm>
            <a:off x="6038640" y="3758760"/>
            <a:ext cx="2876400" cy="55584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None/>
            </a:pPr>
            <a:r>
              <a:rPr b="1" lang="en" sz="1000" u="none" strike="noStrike">
                <a:solidFill>
                  <a:schemeClr val="dk1"/>
                </a:solidFill>
                <a:latin typeface="arial"/>
                <a:ea typeface="arial"/>
                <a:cs typeface="arial"/>
                <a:sym typeface="arial"/>
              </a:rPr>
              <a:t>CREDITS:</a:t>
            </a:r>
            <a:r>
              <a:rPr b="0" lang="en" sz="1000" u="none" strike="noStrike">
                <a:solidFill>
                  <a:schemeClr val="dk1"/>
                </a:solidFill>
                <a:latin typeface="arial"/>
                <a:ea typeface="arial"/>
                <a:cs typeface="arial"/>
                <a:sym typeface="arial"/>
              </a:rPr>
              <a:t> This presentation template was created by </a:t>
            </a:r>
            <a:r>
              <a:rPr b="1" lang="en" sz="1000" u="sng" strike="noStrike">
                <a:solidFill>
                  <a:schemeClr val="hlink"/>
                </a:solidFill>
                <a:latin typeface="arial"/>
                <a:ea typeface="arial"/>
                <a:cs typeface="arial"/>
                <a:sym typeface="arial"/>
                <a:hlinkClick r:id="rId2"/>
              </a:rPr>
              <a:t>Slidesgo</a:t>
            </a:r>
            <a:r>
              <a:rPr b="0" lang="en" sz="1000" u="none" strike="noStrike">
                <a:solidFill>
                  <a:schemeClr val="dk1"/>
                </a:solidFill>
                <a:latin typeface="arial"/>
                <a:ea typeface="arial"/>
                <a:cs typeface="arial"/>
                <a:sym typeface="arial"/>
              </a:rPr>
              <a:t>, and includes icons, infographics &amp; images by </a:t>
            </a:r>
            <a:r>
              <a:rPr b="1" lang="en" sz="1000" u="sng" strike="noStrike">
                <a:solidFill>
                  <a:schemeClr val="hlink"/>
                </a:solidFill>
                <a:latin typeface="arial"/>
                <a:ea typeface="arial"/>
                <a:cs typeface="arial"/>
                <a:sym typeface="arial"/>
                <a:hlinkClick r:id="rId3"/>
              </a:rPr>
              <a:t>Freepik</a:t>
            </a:r>
            <a:r>
              <a:rPr b="0" lang="en" sz="1000" u="none" strike="noStrike">
                <a:solidFill>
                  <a:schemeClr val="dk1"/>
                </a:solidFill>
                <a:latin typeface="arial"/>
                <a:ea typeface="arial"/>
                <a:cs typeface="arial"/>
                <a:sym typeface="arial"/>
              </a:rPr>
              <a:t> </a:t>
            </a:r>
            <a:endParaRPr b="0" sz="1000" u="none" strike="noStrike">
              <a:solidFill>
                <a:srgbClr val="000000"/>
              </a:solidFill>
              <a:latin typeface="Noto Sans Symbols"/>
              <a:ea typeface="Noto Sans Symbols"/>
              <a:cs typeface="Noto Sans Symbols"/>
              <a:sym typeface="Noto Sans Symbols"/>
            </a:endParaRPr>
          </a:p>
        </p:txBody>
      </p:sp>
      <p:cxnSp>
        <p:nvCxnSpPr>
          <p:cNvPr id="128" name="Google Shape;128;p26"/>
          <p:cNvCxnSpPr/>
          <p:nvPr/>
        </p:nvCxnSpPr>
        <p:spPr>
          <a:xfrm flipH="1">
            <a:off x="8297640" y="755280"/>
            <a:ext cx="378000" cy="360"/>
          </a:xfrm>
          <a:prstGeom prst="straightConnector1">
            <a:avLst/>
          </a:prstGeom>
          <a:noFill/>
          <a:ln cap="flat" cmpd="sng" w="38100">
            <a:solidFill>
              <a:srgbClr val="191919"/>
            </a:solidFill>
            <a:prstDash val="solid"/>
            <a:round/>
            <a:headEnd len="sm" w="sm" type="none"/>
            <a:tailEnd len="sm" w="sm" type="none"/>
          </a:ln>
        </p:spPr>
      </p:cxnSp>
      <p:sp>
        <p:nvSpPr>
          <p:cNvPr id="129" name="Google Shape;129;p26"/>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
  <p:cSld name="BLANK_1_1_1_1_1_1_1">
    <p:bg>
      <p:bgPr>
        <a:solidFill>
          <a:srgbClr val="C9DAF8"/>
        </a:solidFill>
      </p:bgPr>
    </p:bg>
    <p:spTree>
      <p:nvGrpSpPr>
        <p:cNvPr id="130" name="Shape 130"/>
        <p:cNvGrpSpPr/>
        <p:nvPr/>
      </p:nvGrpSpPr>
      <p:grpSpPr>
        <a:xfrm>
          <a:off x="0" y="0"/>
          <a:ext cx="0" cy="0"/>
          <a:chOff x="0" y="0"/>
          <a:chExt cx="0" cy="0"/>
        </a:xfrm>
      </p:grpSpPr>
      <p:cxnSp>
        <p:nvCxnSpPr>
          <p:cNvPr id="131" name="Google Shape;131;p27"/>
          <p:cNvCxnSpPr/>
          <p:nvPr/>
        </p:nvCxnSpPr>
        <p:spPr>
          <a:xfrm flipH="1">
            <a:off x="8297640" y="423360"/>
            <a:ext cx="378000" cy="360"/>
          </a:xfrm>
          <a:prstGeom prst="straightConnector1">
            <a:avLst/>
          </a:prstGeom>
          <a:noFill/>
          <a:ln cap="flat" cmpd="sng" w="38100">
            <a:solidFill>
              <a:srgbClr val="191919"/>
            </a:solidFill>
            <a:prstDash val="solid"/>
            <a:round/>
            <a:headEnd len="sm" w="sm" type="none"/>
            <a:tailEnd len="sm" w="sm" type="none"/>
          </a:ln>
        </p:spPr>
      </p:cxnSp>
      <p:sp>
        <p:nvSpPr>
          <p:cNvPr id="132" name="Google Shape;132;p27"/>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_1">
  <p:cSld name="BLANK_1_1_1_1_1_1_1_1">
    <p:bg>
      <p:bgPr>
        <a:solidFill>
          <a:srgbClr val="C9DAF8"/>
        </a:solidFill>
      </p:bgPr>
    </p:bg>
    <p:spTree>
      <p:nvGrpSpPr>
        <p:cNvPr id="133" name="Shape 133"/>
        <p:cNvGrpSpPr/>
        <p:nvPr/>
      </p:nvGrpSpPr>
      <p:grpSpPr>
        <a:xfrm>
          <a:off x="0" y="0"/>
          <a:ext cx="0" cy="0"/>
          <a:chOff x="0" y="0"/>
          <a:chExt cx="0" cy="0"/>
        </a:xfrm>
      </p:grpSpPr>
      <p:cxnSp>
        <p:nvCxnSpPr>
          <p:cNvPr id="134" name="Google Shape;134;p28"/>
          <p:cNvCxnSpPr/>
          <p:nvPr/>
        </p:nvCxnSpPr>
        <p:spPr>
          <a:xfrm flipH="1">
            <a:off x="456840" y="4762440"/>
            <a:ext cx="378360" cy="360"/>
          </a:xfrm>
          <a:prstGeom prst="straightConnector1">
            <a:avLst/>
          </a:prstGeom>
          <a:noFill/>
          <a:ln cap="flat" cmpd="sng" w="38100">
            <a:solidFill>
              <a:srgbClr val="191919"/>
            </a:solidFill>
            <a:prstDash val="solid"/>
            <a:round/>
            <a:headEnd len="sm" w="sm" type="none"/>
            <a:tailEnd len="sm" w="sm" type="none"/>
          </a:ln>
        </p:spPr>
      </p:cxnSp>
      <p:sp>
        <p:nvSpPr>
          <p:cNvPr id="135" name="Google Shape;135;p28"/>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rgbClr val="C9DAF8"/>
        </a:solidFill>
      </p:bgPr>
    </p:bg>
    <p:spTree>
      <p:nvGrpSpPr>
        <p:cNvPr id="136" name="Shape 136"/>
        <p:cNvGrpSpPr/>
        <p:nvPr/>
      </p:nvGrpSpPr>
      <p:grpSpPr>
        <a:xfrm>
          <a:off x="0" y="0"/>
          <a:ext cx="0" cy="0"/>
          <a:chOff x="0" y="0"/>
          <a:chExt cx="0" cy="0"/>
        </a:xfrm>
      </p:grpSpPr>
      <p:sp>
        <p:nvSpPr>
          <p:cNvPr id="137" name="Google Shape;137;p29"/>
          <p:cNvSpPr txBox="1"/>
          <p:nvPr>
            <p:ph type="title"/>
          </p:nvPr>
        </p:nvSpPr>
        <p:spPr>
          <a:xfrm>
            <a:off x="457200" y="228600"/>
            <a:ext cx="541656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8" name="Google Shape;138;p29"/>
          <p:cNvSpPr txBox="1"/>
          <p:nvPr>
            <p:ph idx="1" type="body"/>
          </p:nvPr>
        </p:nvSpPr>
        <p:spPr>
          <a:xfrm>
            <a:off x="6074640" y="302040"/>
            <a:ext cx="2840400" cy="4612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9" name="Google Shape;139;p29"/>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rgbClr val="C9DAF8"/>
        </a:solidFill>
      </p:bgPr>
    </p:bg>
    <p:spTree>
      <p:nvGrpSpPr>
        <p:cNvPr id="140" name="Shape 140"/>
        <p:cNvGrpSpPr/>
        <p:nvPr/>
      </p:nvGrpSpPr>
      <p:grpSpPr>
        <a:xfrm>
          <a:off x="0" y="0"/>
          <a:ext cx="0" cy="0"/>
          <a:chOff x="0" y="0"/>
          <a:chExt cx="0" cy="0"/>
        </a:xfrm>
      </p:grpSpPr>
      <p:sp>
        <p:nvSpPr>
          <p:cNvPr id="141" name="Google Shape;141;p30"/>
          <p:cNvSpPr txBox="1"/>
          <p:nvPr>
            <p:ph type="title"/>
          </p:nvPr>
        </p:nvSpPr>
        <p:spPr>
          <a:xfrm>
            <a:off x="457200" y="22860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2" name="Google Shape;142;p30"/>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rgbClr val="C9DAF8"/>
        </a:solidFill>
      </p:bgPr>
    </p:bg>
    <p:spTree>
      <p:nvGrpSpPr>
        <p:cNvPr id="143" name="Shape 143"/>
        <p:cNvGrpSpPr/>
        <p:nvPr/>
      </p:nvGrpSpPr>
      <p:grpSpPr>
        <a:xfrm>
          <a:off x="0" y="0"/>
          <a:ext cx="0" cy="0"/>
          <a:chOff x="0" y="0"/>
          <a:chExt cx="0" cy="0"/>
        </a:xfrm>
      </p:grpSpPr>
      <p:sp>
        <p:nvSpPr>
          <p:cNvPr id="144" name="Google Shape;144;p31"/>
          <p:cNvSpPr txBox="1"/>
          <p:nvPr>
            <p:ph type="title"/>
          </p:nvPr>
        </p:nvSpPr>
        <p:spPr>
          <a:xfrm>
            <a:off x="228600" y="228600"/>
            <a:ext cx="3998160" cy="1445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5" name="Google Shape;145;p31"/>
          <p:cNvSpPr txBox="1"/>
          <p:nvPr>
            <p:ph idx="1" type="body"/>
          </p:nvPr>
        </p:nvSpPr>
        <p:spPr>
          <a:xfrm>
            <a:off x="1609560" y="2066040"/>
            <a:ext cx="3823920" cy="253224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6" name="Google Shape;146;p31"/>
          <p:cNvSpPr txBox="1"/>
          <p:nvPr>
            <p:ph idx="2" type="body"/>
          </p:nvPr>
        </p:nvSpPr>
        <p:spPr>
          <a:xfrm>
            <a:off x="5715720" y="0"/>
            <a:ext cx="342792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7" name="Google Shape;147;p31"/>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rgbClr val="C9DAF8"/>
        </a:solidFill>
      </p:bgPr>
    </p:bg>
    <p:spTree>
      <p:nvGrpSpPr>
        <p:cNvPr id="148" name="Shape 148"/>
        <p:cNvGrpSpPr/>
        <p:nvPr/>
      </p:nvGrpSpPr>
      <p:grpSpPr>
        <a:xfrm>
          <a:off x="0" y="0"/>
          <a:ext cx="0" cy="0"/>
          <a:chOff x="0" y="0"/>
          <a:chExt cx="0" cy="0"/>
        </a:xfrm>
      </p:grpSpPr>
      <p:sp>
        <p:nvSpPr>
          <p:cNvPr id="149" name="Google Shape;149;p32"/>
          <p:cNvSpPr txBox="1"/>
          <p:nvPr>
            <p:ph type="title"/>
          </p:nvPr>
        </p:nvSpPr>
        <p:spPr>
          <a:xfrm>
            <a:off x="1388160" y="1307160"/>
            <a:ext cx="6367320" cy="252900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0" name="Google Shape;150;p32"/>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bg>
      <p:bgPr>
        <a:solidFill>
          <a:srgbClr val="C9DAF8"/>
        </a:solidFill>
      </p:bgPr>
    </p:bg>
    <p:spTree>
      <p:nvGrpSpPr>
        <p:cNvPr id="151" name="Shape 151"/>
        <p:cNvGrpSpPr/>
        <p:nvPr/>
      </p:nvGrpSpPr>
      <p:grpSpPr>
        <a:xfrm>
          <a:off x="0" y="0"/>
          <a:ext cx="0" cy="0"/>
          <a:chOff x="0" y="0"/>
          <a:chExt cx="0" cy="0"/>
        </a:xfrm>
      </p:grpSpPr>
      <p:sp>
        <p:nvSpPr>
          <p:cNvPr id="152" name="Google Shape;152;p33"/>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3" name="Google Shape;153;p33"/>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CAPTION_ONLY">
    <p:bg>
      <p:bgPr>
        <a:solidFill>
          <a:srgbClr val="C9DAF8"/>
        </a:solidFill>
      </p:bgPr>
    </p:bg>
    <p:spTree>
      <p:nvGrpSpPr>
        <p:cNvPr id="154" name="Shape 154"/>
        <p:cNvGrpSpPr/>
        <p:nvPr/>
      </p:nvGrpSpPr>
      <p:grpSpPr>
        <a:xfrm>
          <a:off x="0" y="0"/>
          <a:ext cx="0" cy="0"/>
          <a:chOff x="0" y="0"/>
          <a:chExt cx="0" cy="0"/>
        </a:xfrm>
      </p:grpSpPr>
      <p:sp>
        <p:nvSpPr>
          <p:cNvPr id="155" name="Google Shape;155;p34"/>
          <p:cNvSpPr txBox="1"/>
          <p:nvPr>
            <p:ph idx="1" type="body"/>
          </p:nvPr>
        </p:nvSpPr>
        <p:spPr>
          <a:xfrm>
            <a:off x="0" y="0"/>
            <a:ext cx="914364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stStyle>
          <a:p/>
        </p:txBody>
      </p:sp>
      <p:sp>
        <p:nvSpPr>
          <p:cNvPr id="156" name="Google Shape;156;p34"/>
          <p:cNvSpPr txBox="1"/>
          <p:nvPr>
            <p:ph type="title"/>
          </p:nvPr>
        </p:nvSpPr>
        <p:spPr>
          <a:xfrm>
            <a:off x="5913000" y="228600"/>
            <a:ext cx="3002040" cy="854280"/>
          </a:xfrm>
          <a:prstGeom prst="rect">
            <a:avLst/>
          </a:prstGeom>
          <a:solidFill>
            <a:schemeClr val="lt1"/>
          </a:solid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p34"/>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theme" Target="../theme/theme2.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56309" y="4659426"/>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9.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5"/>
          <p:cNvSpPr txBox="1"/>
          <p:nvPr>
            <p:ph idx="1" type="subTitle"/>
          </p:nvPr>
        </p:nvSpPr>
        <p:spPr>
          <a:xfrm>
            <a:off x="2012038" y="2737825"/>
            <a:ext cx="6588600" cy="1275900"/>
          </a:xfrm>
          <a:prstGeom prst="rect">
            <a:avLst/>
          </a:prstGeom>
          <a:noFill/>
          <a:ln>
            <a:noFill/>
          </a:ln>
        </p:spPr>
        <p:txBody>
          <a:bodyPr anchorCtr="0" anchor="t" bIns="91425" lIns="91425" spcFirstLastPara="1" rIns="91425" wrap="square" tIns="91425">
            <a:normAutofit fontScale="92500"/>
          </a:bodyPr>
          <a:lstStyle/>
          <a:p>
            <a:pPr indent="0" lvl="0" marL="0" rtl="0" algn="r">
              <a:spcBef>
                <a:spcPts val="0"/>
              </a:spcBef>
              <a:spcAft>
                <a:spcPts val="0"/>
              </a:spcAft>
              <a:buClr>
                <a:schemeClr val="dk1"/>
              </a:buClr>
              <a:buSzPct val="269999"/>
              <a:buFont typeface="Radio Canada Big"/>
              <a:buNone/>
            </a:pPr>
            <a:r>
              <a:rPr lang="en" sz="1800">
                <a:solidFill>
                  <a:schemeClr val="dk1"/>
                </a:solidFill>
                <a:latin typeface="arial"/>
                <a:ea typeface="arial"/>
                <a:cs typeface="arial"/>
                <a:sym typeface="arial"/>
              </a:rPr>
              <a:t>Monteforte &amp; Wolf (2012).</a:t>
            </a:r>
            <a:endParaRPr sz="1800">
              <a:solidFill>
                <a:schemeClr val="dk1"/>
              </a:solidFill>
              <a:latin typeface="arial"/>
              <a:ea typeface="arial"/>
              <a:cs typeface="arial"/>
              <a:sym typeface="arial"/>
            </a:endParaRPr>
          </a:p>
          <a:p>
            <a:pPr indent="0" lvl="0" marL="0" rtl="0" algn="r">
              <a:spcBef>
                <a:spcPts val="0"/>
              </a:spcBef>
              <a:spcAft>
                <a:spcPts val="0"/>
              </a:spcAft>
              <a:buClr>
                <a:schemeClr val="dk1"/>
              </a:buClr>
              <a:buSzPct val="269999"/>
              <a:buFont typeface="Radio Canada Big"/>
              <a:buNone/>
            </a:pPr>
            <a:r>
              <a:rPr lang="en" sz="1800">
                <a:solidFill>
                  <a:schemeClr val="dk1"/>
                </a:solidFill>
                <a:latin typeface="arial"/>
                <a:ea typeface="arial"/>
                <a:cs typeface="arial"/>
                <a:sym typeface="arial"/>
              </a:rPr>
              <a:t>Dynamic Flux Tubes Reservoirs of Stability in Neuronal Circuits.</a:t>
            </a:r>
            <a:br>
              <a:rPr b="0" i="0" lang="en" sz="1800" u="none" cap="none" strike="noStrike">
                <a:solidFill>
                  <a:schemeClr val="dk1"/>
                </a:solidFill>
                <a:latin typeface="arial"/>
                <a:ea typeface="arial"/>
                <a:cs typeface="arial"/>
                <a:sym typeface="arial"/>
              </a:rPr>
            </a:br>
            <a:r>
              <a:rPr b="0" i="1" lang="en" sz="1800" u="none" cap="none" strike="noStrike">
                <a:solidFill>
                  <a:schemeClr val="dk1"/>
                </a:solidFill>
                <a:latin typeface="arial"/>
                <a:ea typeface="arial"/>
                <a:cs typeface="arial"/>
                <a:sym typeface="arial"/>
              </a:rPr>
              <a:t>Physical Review X</a:t>
            </a:r>
            <a:endParaRPr i="1"/>
          </a:p>
          <a:p>
            <a:pPr indent="0" lvl="0" marL="0" marR="0" rtl="0" algn="r">
              <a:lnSpc>
                <a:spcPct val="100000"/>
              </a:lnSpc>
              <a:spcBef>
                <a:spcPts val="0"/>
              </a:spcBef>
              <a:spcAft>
                <a:spcPts val="0"/>
              </a:spcAft>
              <a:buClr>
                <a:schemeClr val="dk1"/>
              </a:buClr>
              <a:buSzPct val="100000"/>
              <a:buFont typeface="Arial"/>
              <a:buNone/>
            </a:pPr>
            <a:r>
              <a:t/>
            </a:r>
            <a:endParaRPr b="0" i="0" sz="1800" u="none" cap="none" strike="noStrike">
              <a:solidFill>
                <a:schemeClr val="dk1"/>
              </a:solidFill>
              <a:latin typeface="arial"/>
              <a:ea typeface="arial"/>
              <a:cs typeface="arial"/>
              <a:sym typeface="arial"/>
            </a:endParaRPr>
          </a:p>
        </p:txBody>
      </p:sp>
      <p:sp>
        <p:nvSpPr>
          <p:cNvPr id="163" name="Google Shape;163;p35"/>
          <p:cNvSpPr txBox="1"/>
          <p:nvPr>
            <p:ph type="title"/>
          </p:nvPr>
        </p:nvSpPr>
        <p:spPr>
          <a:xfrm>
            <a:off x="2443700" y="661350"/>
            <a:ext cx="6233400" cy="18666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Clr>
                <a:schemeClr val="dk1"/>
              </a:buClr>
              <a:buSzPts val="4860"/>
              <a:buFont typeface="Radio Canada Big"/>
              <a:buNone/>
            </a:pPr>
            <a:r>
              <a:rPr lang="en" sz="4560">
                <a:latin typeface="Radio Canada Big"/>
                <a:ea typeface="Radio Canada Big"/>
                <a:cs typeface="Radio Canada Big"/>
                <a:sym typeface="Radio Canada Big"/>
              </a:rPr>
              <a:t>Stability and Chaos in Networks of Spiking Neurons</a:t>
            </a:r>
            <a:endParaRPr sz="4560">
              <a:latin typeface="Radio Canada Big"/>
              <a:ea typeface="Radio Canada Big"/>
              <a:cs typeface="Radio Canada Big"/>
              <a:sym typeface="Radio Canada Big"/>
            </a:endParaRPr>
          </a:p>
        </p:txBody>
      </p:sp>
      <p:sp>
        <p:nvSpPr>
          <p:cNvPr id="164" name="Google Shape;164;p35"/>
          <p:cNvSpPr txBox="1"/>
          <p:nvPr/>
        </p:nvSpPr>
        <p:spPr>
          <a:xfrm>
            <a:off x="2652409" y="330740"/>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 name="Google Shape;165;p35"/>
          <p:cNvSpPr txBox="1"/>
          <p:nvPr>
            <p:ph idx="2" type="subTitle"/>
          </p:nvPr>
        </p:nvSpPr>
        <p:spPr>
          <a:xfrm>
            <a:off x="3233150" y="4068925"/>
            <a:ext cx="5367600" cy="563100"/>
          </a:xfrm>
          <a:prstGeom prst="rect">
            <a:avLst/>
          </a:prstGeom>
          <a:noFill/>
          <a:ln>
            <a:noFill/>
          </a:ln>
        </p:spPr>
        <p:txBody>
          <a:bodyPr anchorCtr="0" anchor="t" bIns="91425" lIns="91425" spcFirstLastPara="1" rIns="91425" wrap="square" tIns="91425">
            <a:normAutofit fontScale="85000" lnSpcReduction="20000"/>
          </a:bodyPr>
          <a:lstStyle/>
          <a:p>
            <a:pPr indent="0" lvl="0" marL="0" marR="0" rtl="0" algn="r">
              <a:lnSpc>
                <a:spcPct val="100000"/>
              </a:lnSpc>
              <a:spcBef>
                <a:spcPts val="0"/>
              </a:spcBef>
              <a:spcAft>
                <a:spcPts val="0"/>
              </a:spcAft>
              <a:buClr>
                <a:schemeClr val="dk1"/>
              </a:buClr>
              <a:buSzPct val="100000"/>
              <a:buFont typeface="arial"/>
              <a:buNone/>
            </a:pPr>
            <a:r>
              <a:rPr lang="en" sz="1800">
                <a:solidFill>
                  <a:schemeClr val="dk1"/>
                </a:solidFill>
                <a:latin typeface="arial"/>
                <a:ea typeface="arial"/>
                <a:cs typeface="arial"/>
                <a:sym typeface="arial"/>
              </a:rPr>
              <a:t>Thorben Haag, Roya Eskandani, Ulas Ayyilmaz </a:t>
            </a:r>
            <a:endParaRPr/>
          </a:p>
          <a:p>
            <a:pPr indent="0" lvl="0" marL="0" marR="0" rtl="0" algn="r">
              <a:lnSpc>
                <a:spcPct val="100000"/>
              </a:lnSpc>
              <a:spcBef>
                <a:spcPts val="0"/>
              </a:spcBef>
              <a:spcAft>
                <a:spcPts val="0"/>
              </a:spcAft>
              <a:buClr>
                <a:schemeClr val="dk1"/>
              </a:buClr>
              <a:buSzPct val="100000"/>
              <a:buFont typeface="Arial"/>
              <a:buNone/>
            </a:pPr>
            <a:r>
              <a:t/>
            </a:r>
            <a:endParaRPr b="0" i="0" sz="1800" u="none" cap="none" strike="noStrike">
              <a:solidFill>
                <a:schemeClr val="dk1"/>
              </a:solidFill>
              <a:latin typeface="arial"/>
              <a:ea typeface="arial"/>
              <a:cs typeface="arial"/>
              <a:sym typeface="arial"/>
            </a:endParaRPr>
          </a:p>
        </p:txBody>
      </p:sp>
      <p:pic>
        <p:nvPicPr>
          <p:cNvPr id="166" name="Google Shape;166;p35" title="Screenshot 2026-02-11 at 21.38.56.png"/>
          <p:cNvPicPr preferRelativeResize="0"/>
          <p:nvPr/>
        </p:nvPicPr>
        <p:blipFill>
          <a:blip r:embed="rId3">
            <a:alphaModFix/>
          </a:blip>
          <a:stretch>
            <a:fillRect/>
          </a:stretch>
        </p:blipFill>
        <p:spPr>
          <a:xfrm>
            <a:off x="109750" y="136719"/>
            <a:ext cx="2837150" cy="1546256"/>
          </a:xfrm>
          <a:prstGeom prst="rect">
            <a:avLst/>
          </a:prstGeom>
          <a:noFill/>
          <a:ln>
            <a:noFill/>
          </a:ln>
        </p:spPr>
      </p:pic>
      <p:sp>
        <p:nvSpPr>
          <p:cNvPr id="167" name="Google Shape;167;p35"/>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Introduction</a:t>
            </a:r>
            <a:r>
              <a:rPr lang="en"/>
              <a:t> - Research Question - Model - Results - Conclusion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6"/>
          <p:cNvSpPr txBox="1"/>
          <p:nvPr>
            <p:ph type="title"/>
          </p:nvPr>
        </p:nvSpPr>
        <p:spPr>
          <a:xfrm>
            <a:off x="457200" y="228600"/>
            <a:ext cx="6933900" cy="889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500"/>
              <a:buFont typeface="Radio Canada Big"/>
              <a:buNone/>
            </a:pPr>
            <a:r>
              <a:rPr b="0" lang="en" sz="3500" u="none" strike="noStrike">
                <a:solidFill>
                  <a:schemeClr val="dk1"/>
                </a:solidFill>
                <a:latin typeface="Radio Canada Big"/>
                <a:ea typeface="Radio Canada Big"/>
                <a:cs typeface="Radio Canada Big"/>
                <a:sym typeface="Radio Canada Big"/>
              </a:rPr>
              <a:t>Central Research Question</a:t>
            </a:r>
            <a:endParaRPr/>
          </a:p>
        </p:txBody>
      </p:sp>
      <p:sp>
        <p:nvSpPr>
          <p:cNvPr id="173" name="Google Shape;173;p36"/>
          <p:cNvSpPr txBox="1"/>
          <p:nvPr>
            <p:ph idx="1" type="subTitle"/>
          </p:nvPr>
        </p:nvSpPr>
        <p:spPr>
          <a:xfrm>
            <a:off x="5084975" y="1214550"/>
            <a:ext cx="3830100" cy="3699900"/>
          </a:xfrm>
          <a:prstGeom prst="rect">
            <a:avLst/>
          </a:prstGeom>
          <a:noFill/>
          <a:ln>
            <a:noFill/>
          </a:ln>
        </p:spPr>
        <p:txBody>
          <a:bodyPr anchorCtr="0" anchor="t" bIns="91425" lIns="91425" spcFirstLastPara="1" rIns="91425" wrap="square" tIns="91425">
            <a:normAutofit/>
          </a:bodyPr>
          <a:lstStyle/>
          <a:p>
            <a:pPr indent="-336550" lvl="0" marL="457200" marR="0" rtl="0" algn="l">
              <a:lnSpc>
                <a:spcPct val="14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Cortical networks: irregular &amp; asynchronous activity</a:t>
            </a:r>
            <a:endParaRPr sz="1700">
              <a:solidFill>
                <a:schemeClr val="dk1"/>
              </a:solidFill>
              <a:latin typeface="arial"/>
              <a:ea typeface="arial"/>
              <a:cs typeface="arial"/>
              <a:sym typeface="arial"/>
            </a:endParaRPr>
          </a:p>
          <a:p>
            <a:pPr indent="-336550" lvl="0" marL="457200" marR="0" rtl="0" algn="l">
              <a:lnSpc>
                <a:spcPct val="14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Single spike perturbations can decorrelate the detailed spike pattern (‘microstate’) [London et al. 2010]</a:t>
            </a:r>
            <a:endParaRPr b="1" sz="1700">
              <a:solidFill>
                <a:schemeClr val="dk1"/>
              </a:solidFill>
              <a:latin typeface="arial"/>
              <a:ea typeface="arial"/>
              <a:cs typeface="arial"/>
              <a:sym typeface="arial"/>
            </a:endParaRPr>
          </a:p>
        </p:txBody>
      </p:sp>
      <p:sp>
        <p:nvSpPr>
          <p:cNvPr id="174" name="Google Shape;174;p36"/>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36"/>
          <p:cNvSpPr txBox="1"/>
          <p:nvPr/>
        </p:nvSpPr>
        <p:spPr>
          <a:xfrm>
            <a:off x="1970171" y="3855770"/>
            <a:ext cx="5708400" cy="4464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700">
                <a:solidFill>
                  <a:schemeClr val="dk1"/>
                </a:solidFill>
                <a:latin typeface="arial"/>
                <a:ea typeface="arial"/>
                <a:cs typeface="arial"/>
                <a:sym typeface="arial"/>
              </a:rPr>
              <a:t>How do perturbations affect the dynamics?</a:t>
            </a:r>
            <a:endParaRPr b="1" sz="1700">
              <a:solidFill>
                <a:schemeClr val="dk1"/>
              </a:solidFill>
              <a:latin typeface="arial"/>
              <a:ea typeface="arial"/>
              <a:cs typeface="arial"/>
              <a:sym typeface="arial"/>
            </a:endParaRPr>
          </a:p>
        </p:txBody>
      </p:sp>
      <p:pic>
        <p:nvPicPr>
          <p:cNvPr id="176" name="Google Shape;176;p36" title="task1_spike_raster.png"/>
          <p:cNvPicPr preferRelativeResize="0"/>
          <p:nvPr/>
        </p:nvPicPr>
        <p:blipFill>
          <a:blip r:embed="rId3">
            <a:alphaModFix/>
          </a:blip>
          <a:stretch>
            <a:fillRect/>
          </a:stretch>
        </p:blipFill>
        <p:spPr>
          <a:xfrm>
            <a:off x="159700" y="1359175"/>
            <a:ext cx="4983801" cy="2255225"/>
          </a:xfrm>
          <a:prstGeom prst="rect">
            <a:avLst/>
          </a:prstGeom>
          <a:noFill/>
          <a:ln>
            <a:noFill/>
          </a:ln>
        </p:spPr>
      </p:pic>
      <p:sp>
        <p:nvSpPr>
          <p:cNvPr id="177" name="Google Shape;177;p36"/>
          <p:cNvSpPr txBox="1"/>
          <p:nvPr/>
        </p:nvSpPr>
        <p:spPr>
          <a:xfrm>
            <a:off x="-1" y="3535775"/>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a:t>
            </a:r>
            <a:endParaRPr sz="1200">
              <a:solidFill>
                <a:schemeClr val="dk1"/>
              </a:solidFill>
              <a:latin typeface="arial"/>
              <a:ea typeface="arial"/>
              <a:cs typeface="arial"/>
              <a:sym typeface="arial"/>
            </a:endParaRPr>
          </a:p>
        </p:txBody>
      </p:sp>
      <p:sp>
        <p:nvSpPr>
          <p:cNvPr id="178" name="Google Shape;178;p36"/>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a:t>
            </a:r>
            <a:r>
              <a:rPr b="1" lang="en"/>
              <a:t>Research Question</a:t>
            </a:r>
            <a:r>
              <a:rPr lang="en"/>
              <a:t> - Model - Results - Conclusion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7"/>
          <p:cNvSpPr/>
          <p:nvPr/>
        </p:nvSpPr>
        <p:spPr>
          <a:xfrm>
            <a:off x="476275" y="1294884"/>
            <a:ext cx="4291200" cy="3536700"/>
          </a:xfrm>
          <a:prstGeom prst="rect">
            <a:avLst/>
          </a:prstGeom>
          <a:noFill/>
          <a:ln>
            <a:noFill/>
          </a:ln>
        </p:spPr>
        <p:txBody>
          <a:bodyPr anchorCtr="0" anchor="t" bIns="45700" lIns="91425" spcFirstLastPara="1" rIns="91425" wrap="square" tIns="45700">
            <a:noAutofit/>
          </a:bodyPr>
          <a:lstStyle/>
          <a:p>
            <a:pPr indent="-336550" lvl="0" marL="457200" marR="0" rtl="0" algn="l">
              <a:lnSpc>
                <a:spcPct val="14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Recurrent inhibitory LIF neurons</a:t>
            </a:r>
            <a:endParaRPr sz="1700">
              <a:solidFill>
                <a:schemeClr val="dk1"/>
              </a:solidFill>
              <a:latin typeface="arial"/>
              <a:ea typeface="arial"/>
              <a:cs typeface="arial"/>
              <a:sym typeface="arial"/>
            </a:endParaRPr>
          </a:p>
          <a:p>
            <a:pPr indent="-336550" lvl="0" marL="457200" marR="0" rtl="0" algn="l">
              <a:lnSpc>
                <a:spcPct val="14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Sparse connections: 10% connectivity</a:t>
            </a:r>
            <a:endParaRPr sz="1700">
              <a:solidFill>
                <a:schemeClr val="dk1"/>
              </a:solidFill>
              <a:latin typeface="arial"/>
              <a:ea typeface="arial"/>
              <a:cs typeface="arial"/>
              <a:sym typeface="arial"/>
            </a:endParaRPr>
          </a:p>
          <a:p>
            <a:pPr indent="-336550" lvl="0" marL="457200" marR="0" rtl="0" algn="l">
              <a:lnSpc>
                <a:spcPct val="14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Constant external excitatory drive                                           delivered to all N neurons</a:t>
            </a:r>
            <a:endParaRPr sz="1700">
              <a:solidFill>
                <a:schemeClr val="dk1"/>
              </a:solidFill>
              <a:latin typeface="arial"/>
              <a:ea typeface="arial"/>
              <a:cs typeface="arial"/>
              <a:sym typeface="arial"/>
            </a:endParaRPr>
          </a:p>
          <a:p>
            <a:pPr indent="-336550" lvl="0" marL="457200" marR="0" rtl="0" algn="l">
              <a:lnSpc>
                <a:spcPct val="14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Balanced state dynamics</a:t>
            </a:r>
            <a:endParaRPr sz="1700">
              <a:solidFill>
                <a:schemeClr val="dk1"/>
              </a:solidFill>
              <a:latin typeface="arial"/>
              <a:ea typeface="arial"/>
              <a:cs typeface="arial"/>
              <a:sym typeface="arial"/>
            </a:endParaRPr>
          </a:p>
        </p:txBody>
      </p:sp>
      <p:sp>
        <p:nvSpPr>
          <p:cNvPr id="185" name="Google Shape;185;p37"/>
          <p:cNvSpPr/>
          <p:nvPr/>
        </p:nvSpPr>
        <p:spPr>
          <a:xfrm>
            <a:off x="476275" y="476275"/>
            <a:ext cx="4455300" cy="49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500"/>
              <a:buFont typeface="Radio Canada Big"/>
              <a:buNone/>
            </a:pPr>
            <a:r>
              <a:rPr lang="en" sz="3500">
                <a:solidFill>
                  <a:schemeClr val="dk1"/>
                </a:solidFill>
                <a:latin typeface="Radio Canada Big"/>
                <a:ea typeface="Radio Canada Big"/>
                <a:cs typeface="Radio Canada Big"/>
                <a:sym typeface="Radio Canada Big"/>
              </a:rPr>
              <a:t>The</a:t>
            </a:r>
            <a:r>
              <a:rPr b="0" lang="en" sz="2600" u="none" strike="noStrike">
                <a:solidFill>
                  <a:schemeClr val="dk1"/>
                </a:solidFill>
                <a:latin typeface="Radio Canada Big"/>
                <a:ea typeface="Radio Canada Big"/>
                <a:cs typeface="Radio Canada Big"/>
                <a:sym typeface="Radio Canada Big"/>
              </a:rPr>
              <a:t> </a:t>
            </a:r>
            <a:r>
              <a:rPr lang="en" sz="3500">
                <a:solidFill>
                  <a:schemeClr val="dk1"/>
                </a:solidFill>
                <a:latin typeface="Radio Canada Big"/>
                <a:ea typeface="Radio Canada Big"/>
                <a:cs typeface="Radio Canada Big"/>
                <a:sym typeface="Radio Canada Big"/>
              </a:rPr>
              <a:t>Model</a:t>
            </a:r>
            <a:r>
              <a:rPr b="0" lang="en" sz="2600" u="none" strike="noStrike">
                <a:solidFill>
                  <a:schemeClr val="dk1"/>
                </a:solidFill>
                <a:latin typeface="Radio Canada Big"/>
                <a:ea typeface="Radio Canada Big"/>
                <a:cs typeface="Radio Canada Big"/>
                <a:sym typeface="Radio Canada Big"/>
              </a:rPr>
              <a:t> </a:t>
            </a:r>
            <a:r>
              <a:rPr lang="en" sz="3500">
                <a:solidFill>
                  <a:schemeClr val="dk1"/>
                </a:solidFill>
                <a:latin typeface="Radio Canada Big"/>
                <a:ea typeface="Radio Canada Big"/>
                <a:cs typeface="Radio Canada Big"/>
                <a:sym typeface="Radio Canada Big"/>
              </a:rPr>
              <a:t>Network</a:t>
            </a:r>
            <a:endParaRPr/>
          </a:p>
        </p:txBody>
      </p:sp>
      <p:sp>
        <p:nvSpPr>
          <p:cNvPr id="186" name="Google Shape;186;p37"/>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7" name="Google Shape;187;p37"/>
          <p:cNvSpPr txBox="1"/>
          <p:nvPr/>
        </p:nvSpPr>
        <p:spPr>
          <a:xfrm>
            <a:off x="4880274" y="4464425"/>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2</a:t>
            </a:r>
            <a:endParaRPr sz="1200">
              <a:solidFill>
                <a:schemeClr val="dk1"/>
              </a:solidFill>
              <a:latin typeface="arial"/>
              <a:ea typeface="arial"/>
              <a:cs typeface="arial"/>
              <a:sym typeface="arial"/>
            </a:endParaRPr>
          </a:p>
        </p:txBody>
      </p:sp>
      <p:pic>
        <p:nvPicPr>
          <p:cNvPr id="188" name="Google Shape;188;p37" title="Comp Practical Project-5.png"/>
          <p:cNvPicPr preferRelativeResize="0"/>
          <p:nvPr/>
        </p:nvPicPr>
        <p:blipFill>
          <a:blip r:embed="rId4">
            <a:alphaModFix/>
          </a:blip>
          <a:stretch>
            <a:fillRect/>
          </a:stretch>
        </p:blipFill>
        <p:spPr>
          <a:xfrm>
            <a:off x="5032600" y="927726"/>
            <a:ext cx="3487700" cy="3536700"/>
          </a:xfrm>
          <a:prstGeom prst="rect">
            <a:avLst/>
          </a:prstGeom>
          <a:noFill/>
          <a:ln>
            <a:noFill/>
          </a:ln>
        </p:spPr>
      </p:pic>
      <p:sp>
        <p:nvSpPr>
          <p:cNvPr id="189" name="Google Shape;189;p37"/>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a:t>
            </a:r>
            <a:r>
              <a:rPr b="1" lang="en"/>
              <a:t>Model</a:t>
            </a:r>
            <a:r>
              <a:rPr lang="en"/>
              <a:t> - Results - Conclusion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8"/>
          <p:cNvSpPr txBox="1"/>
          <p:nvPr>
            <p:ph type="title"/>
          </p:nvPr>
        </p:nvSpPr>
        <p:spPr>
          <a:xfrm>
            <a:off x="457200" y="228600"/>
            <a:ext cx="77037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latin typeface="Radio Canada Big"/>
                <a:ea typeface="Radio Canada Big"/>
                <a:cs typeface="Radio Canada Big"/>
                <a:sym typeface="Radio Canada Big"/>
              </a:rPr>
              <a:t>Network Dynamics</a:t>
            </a:r>
            <a:endParaRPr/>
          </a:p>
        </p:txBody>
      </p:sp>
      <p:sp>
        <p:nvSpPr>
          <p:cNvPr id="195" name="Google Shape;195;p38"/>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96" name="Google Shape;196;p38" title="task1_membrane_voltage.png"/>
          <p:cNvPicPr preferRelativeResize="0"/>
          <p:nvPr/>
        </p:nvPicPr>
        <p:blipFill>
          <a:blip r:embed="rId3">
            <a:alphaModFix/>
          </a:blip>
          <a:stretch>
            <a:fillRect/>
          </a:stretch>
        </p:blipFill>
        <p:spPr>
          <a:xfrm>
            <a:off x="819187" y="2628124"/>
            <a:ext cx="4476419" cy="1758601"/>
          </a:xfrm>
          <a:prstGeom prst="rect">
            <a:avLst/>
          </a:prstGeom>
          <a:noFill/>
          <a:ln>
            <a:noFill/>
          </a:ln>
        </p:spPr>
      </p:pic>
      <p:pic>
        <p:nvPicPr>
          <p:cNvPr id="197" name="Google Shape;197;p38" title="task1_rate_dist.png"/>
          <p:cNvPicPr preferRelativeResize="0"/>
          <p:nvPr/>
        </p:nvPicPr>
        <p:blipFill>
          <a:blip r:embed="rId4">
            <a:alphaModFix/>
          </a:blip>
          <a:stretch>
            <a:fillRect/>
          </a:stretch>
        </p:blipFill>
        <p:spPr>
          <a:xfrm>
            <a:off x="5515686" y="2561775"/>
            <a:ext cx="3354376" cy="1891300"/>
          </a:xfrm>
          <a:prstGeom prst="rect">
            <a:avLst/>
          </a:prstGeom>
          <a:noFill/>
          <a:ln>
            <a:noFill/>
          </a:ln>
        </p:spPr>
      </p:pic>
      <p:sp>
        <p:nvSpPr>
          <p:cNvPr id="198" name="Google Shape;198;p38"/>
          <p:cNvSpPr txBox="1"/>
          <p:nvPr/>
        </p:nvSpPr>
        <p:spPr>
          <a:xfrm>
            <a:off x="460025" y="1915175"/>
            <a:ext cx="300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arial"/>
                <a:ea typeface="arial"/>
                <a:cs typeface="arial"/>
                <a:sym typeface="arial"/>
              </a:rPr>
              <a:t>Synaptic Input:</a:t>
            </a:r>
            <a:endParaRPr sz="1700">
              <a:solidFill>
                <a:schemeClr val="dk1"/>
              </a:solidFill>
              <a:latin typeface="arial"/>
              <a:ea typeface="arial"/>
              <a:cs typeface="arial"/>
              <a:sym typeface="arial"/>
            </a:endParaRPr>
          </a:p>
        </p:txBody>
      </p:sp>
      <p:sp>
        <p:nvSpPr>
          <p:cNvPr id="199" name="Google Shape;199;p38"/>
          <p:cNvSpPr txBox="1"/>
          <p:nvPr/>
        </p:nvSpPr>
        <p:spPr>
          <a:xfrm>
            <a:off x="460015" y="1330238"/>
            <a:ext cx="300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arial"/>
                <a:ea typeface="arial"/>
                <a:cs typeface="arial"/>
                <a:sym typeface="arial"/>
              </a:rPr>
              <a:t>LIF Equation</a:t>
            </a:r>
            <a:r>
              <a:rPr lang="en" sz="1700">
                <a:solidFill>
                  <a:schemeClr val="dk1"/>
                </a:solidFill>
                <a:latin typeface="arial"/>
                <a:ea typeface="arial"/>
                <a:cs typeface="arial"/>
                <a:sym typeface="arial"/>
              </a:rPr>
              <a:t>:</a:t>
            </a:r>
            <a:endParaRPr sz="1700">
              <a:solidFill>
                <a:schemeClr val="dk1"/>
              </a:solidFill>
              <a:latin typeface="arial"/>
              <a:ea typeface="arial"/>
              <a:cs typeface="arial"/>
              <a:sym typeface="arial"/>
            </a:endParaRPr>
          </a:p>
        </p:txBody>
      </p:sp>
      <p:pic>
        <p:nvPicPr>
          <p:cNvPr id="200" name="Google Shape;200;p38" title="CodeCogsEqn.png"/>
          <p:cNvPicPr preferRelativeResize="0"/>
          <p:nvPr/>
        </p:nvPicPr>
        <p:blipFill>
          <a:blip r:embed="rId5">
            <a:alphaModFix/>
          </a:blip>
          <a:stretch>
            <a:fillRect/>
          </a:stretch>
        </p:blipFill>
        <p:spPr>
          <a:xfrm>
            <a:off x="2126425" y="1303225"/>
            <a:ext cx="2477222" cy="500450"/>
          </a:xfrm>
          <a:prstGeom prst="rect">
            <a:avLst/>
          </a:prstGeom>
          <a:noFill/>
          <a:ln>
            <a:noFill/>
          </a:ln>
        </p:spPr>
      </p:pic>
      <p:pic>
        <p:nvPicPr>
          <p:cNvPr id="201" name="Google Shape;201;p38" title="CodeCogsEqn-2.png"/>
          <p:cNvPicPr preferRelativeResize="0"/>
          <p:nvPr/>
        </p:nvPicPr>
        <p:blipFill>
          <a:blip r:embed="rId6">
            <a:alphaModFix/>
          </a:blip>
          <a:stretch>
            <a:fillRect/>
          </a:stretch>
        </p:blipFill>
        <p:spPr>
          <a:xfrm>
            <a:off x="2126425" y="1961315"/>
            <a:ext cx="3190587" cy="500450"/>
          </a:xfrm>
          <a:prstGeom prst="rect">
            <a:avLst/>
          </a:prstGeom>
          <a:noFill/>
          <a:ln>
            <a:noFill/>
          </a:ln>
        </p:spPr>
      </p:pic>
      <p:sp>
        <p:nvSpPr>
          <p:cNvPr id="202" name="Google Shape;202;p38"/>
          <p:cNvSpPr txBox="1"/>
          <p:nvPr/>
        </p:nvSpPr>
        <p:spPr>
          <a:xfrm>
            <a:off x="5754075" y="2714550"/>
            <a:ext cx="2877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Firing Rate</a:t>
            </a:r>
            <a:endParaRPr sz="1200">
              <a:solidFill>
                <a:schemeClr val="dk1"/>
              </a:solidFill>
              <a:latin typeface="arial"/>
              <a:ea typeface="arial"/>
              <a:cs typeface="arial"/>
              <a:sym typeface="arial"/>
            </a:endParaRPr>
          </a:p>
        </p:txBody>
      </p:sp>
      <p:sp>
        <p:nvSpPr>
          <p:cNvPr id="203" name="Google Shape;203;p38"/>
          <p:cNvSpPr txBox="1"/>
          <p:nvPr/>
        </p:nvSpPr>
        <p:spPr>
          <a:xfrm>
            <a:off x="747675" y="4291700"/>
            <a:ext cx="2613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arial"/>
                <a:ea typeface="arial"/>
                <a:cs typeface="arial"/>
                <a:sym typeface="arial"/>
              </a:rPr>
              <a:t>Fig. 3</a:t>
            </a:r>
            <a:endParaRPr sz="1200">
              <a:solidFill>
                <a:schemeClr val="dk1"/>
              </a:solidFill>
              <a:latin typeface="arial"/>
              <a:ea typeface="arial"/>
              <a:cs typeface="arial"/>
              <a:sym typeface="arial"/>
            </a:endParaRPr>
          </a:p>
        </p:txBody>
      </p:sp>
      <p:sp>
        <p:nvSpPr>
          <p:cNvPr id="204" name="Google Shape;204;p38"/>
          <p:cNvSpPr txBox="1"/>
          <p:nvPr/>
        </p:nvSpPr>
        <p:spPr>
          <a:xfrm>
            <a:off x="5419125" y="4386725"/>
            <a:ext cx="2613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arial"/>
                <a:ea typeface="arial"/>
                <a:cs typeface="arial"/>
                <a:sym typeface="arial"/>
              </a:rPr>
              <a:t>Fig. 4</a:t>
            </a:r>
            <a:endParaRPr sz="1200">
              <a:solidFill>
                <a:schemeClr val="dk1"/>
              </a:solidFill>
              <a:latin typeface="arial"/>
              <a:ea typeface="arial"/>
              <a:cs typeface="arial"/>
              <a:sym typeface="arial"/>
            </a:endParaRPr>
          </a:p>
        </p:txBody>
      </p:sp>
      <p:pic>
        <p:nvPicPr>
          <p:cNvPr id="205" name="Google Shape;205;p38" title="task1_spike_raster.png"/>
          <p:cNvPicPr preferRelativeResize="0"/>
          <p:nvPr/>
        </p:nvPicPr>
        <p:blipFill>
          <a:blip r:embed="rId7">
            <a:alphaModFix/>
          </a:blip>
          <a:stretch>
            <a:fillRect/>
          </a:stretch>
        </p:blipFill>
        <p:spPr>
          <a:xfrm>
            <a:off x="5419125" y="695050"/>
            <a:ext cx="3450926" cy="1561568"/>
          </a:xfrm>
          <a:prstGeom prst="rect">
            <a:avLst/>
          </a:prstGeom>
          <a:noFill/>
          <a:ln>
            <a:noFill/>
          </a:ln>
        </p:spPr>
      </p:pic>
      <p:sp>
        <p:nvSpPr>
          <p:cNvPr id="206" name="Google Shape;206;p38"/>
          <p:cNvSpPr txBox="1"/>
          <p:nvPr/>
        </p:nvSpPr>
        <p:spPr>
          <a:xfrm>
            <a:off x="5345960" y="2209625"/>
            <a:ext cx="996000" cy="305100"/>
          </a:xfrm>
          <a:prstGeom prst="rect">
            <a:avLst/>
          </a:prstGeom>
          <a:noFill/>
          <a:ln>
            <a:noFill/>
          </a:ln>
        </p:spPr>
        <p:txBody>
          <a:bodyPr anchorCtr="0" anchor="t" bIns="59625" lIns="59625" spcFirstLastPara="1" rIns="59625" wrap="square" tIns="59625">
            <a:spAutoFit/>
          </a:bodyPr>
          <a:lstStyle/>
          <a:p>
            <a:pPr indent="0" lvl="0" marL="0" marR="0" rtl="0" algn="l">
              <a:lnSpc>
                <a:spcPct val="100000"/>
              </a:lnSpc>
              <a:spcBef>
                <a:spcPts val="0"/>
              </a:spcBef>
              <a:spcAft>
                <a:spcPts val="0"/>
              </a:spcAft>
              <a:buNone/>
            </a:pPr>
            <a:r>
              <a:rPr lang="en" sz="1200">
                <a:solidFill>
                  <a:schemeClr val="dk1"/>
                </a:solidFill>
                <a:latin typeface="arial"/>
                <a:ea typeface="arial"/>
                <a:cs typeface="arial"/>
                <a:sym typeface="arial"/>
              </a:rPr>
              <a:t>Fig. 1</a:t>
            </a:r>
            <a:endParaRPr sz="782">
              <a:solidFill>
                <a:schemeClr val="dk1"/>
              </a:solidFill>
              <a:latin typeface="arial"/>
              <a:ea typeface="arial"/>
              <a:cs typeface="arial"/>
              <a:sym typeface="arial"/>
            </a:endParaRPr>
          </a:p>
        </p:txBody>
      </p:sp>
      <p:sp>
        <p:nvSpPr>
          <p:cNvPr id="207" name="Google Shape;207;p38"/>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a:t>
            </a:r>
            <a:r>
              <a:rPr b="1" lang="en"/>
              <a:t>Model</a:t>
            </a:r>
            <a:r>
              <a:rPr lang="en"/>
              <a:t> - </a:t>
            </a:r>
            <a:r>
              <a:rPr lang="en"/>
              <a:t>Results</a:t>
            </a:r>
            <a:r>
              <a:rPr lang="en"/>
              <a:t> - Conclusion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9"/>
          <p:cNvSpPr txBox="1"/>
          <p:nvPr>
            <p:ph type="title"/>
          </p:nvPr>
        </p:nvSpPr>
        <p:spPr>
          <a:xfrm>
            <a:off x="457200" y="228600"/>
            <a:ext cx="77037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 Perturbation</a:t>
            </a:r>
            <a:endParaRPr/>
          </a:p>
        </p:txBody>
      </p:sp>
      <p:sp>
        <p:nvSpPr>
          <p:cNvPr id="213" name="Google Shape;213;p39"/>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14" name="Google Shape;214;p39" title="Comp Practical Project-9.png"/>
          <p:cNvPicPr preferRelativeResize="0"/>
          <p:nvPr/>
        </p:nvPicPr>
        <p:blipFill rotWithShape="1">
          <a:blip r:embed="rId3">
            <a:alphaModFix/>
          </a:blip>
          <a:srcRect b="28660" l="38078" r="38156" t="28664"/>
          <a:stretch/>
        </p:blipFill>
        <p:spPr>
          <a:xfrm>
            <a:off x="630275" y="1261750"/>
            <a:ext cx="2310950" cy="2334301"/>
          </a:xfrm>
          <a:prstGeom prst="rect">
            <a:avLst/>
          </a:prstGeom>
          <a:noFill/>
          <a:ln>
            <a:noFill/>
          </a:ln>
        </p:spPr>
      </p:pic>
      <p:sp>
        <p:nvSpPr>
          <p:cNvPr id="215" name="Google Shape;215;p39"/>
          <p:cNvSpPr txBox="1"/>
          <p:nvPr/>
        </p:nvSpPr>
        <p:spPr>
          <a:xfrm>
            <a:off x="568624" y="3442225"/>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2</a:t>
            </a:r>
            <a:endParaRPr sz="1200">
              <a:solidFill>
                <a:schemeClr val="dk1"/>
              </a:solidFill>
              <a:latin typeface="arial"/>
              <a:ea typeface="arial"/>
              <a:cs typeface="arial"/>
              <a:sym typeface="arial"/>
            </a:endParaRPr>
          </a:p>
        </p:txBody>
      </p:sp>
      <p:sp>
        <p:nvSpPr>
          <p:cNvPr id="216" name="Google Shape;216;p39"/>
          <p:cNvSpPr txBox="1"/>
          <p:nvPr/>
        </p:nvSpPr>
        <p:spPr>
          <a:xfrm>
            <a:off x="3325624" y="3442225"/>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5</a:t>
            </a:r>
            <a:endParaRPr sz="1200">
              <a:solidFill>
                <a:schemeClr val="dk1"/>
              </a:solidFill>
              <a:latin typeface="arial"/>
              <a:ea typeface="arial"/>
              <a:cs typeface="arial"/>
              <a:sym typeface="arial"/>
            </a:endParaRPr>
          </a:p>
        </p:txBody>
      </p:sp>
      <p:pic>
        <p:nvPicPr>
          <p:cNvPr id="217" name="Google Shape;217;p39" title="Comp Practical Project.png"/>
          <p:cNvPicPr preferRelativeResize="0"/>
          <p:nvPr/>
        </p:nvPicPr>
        <p:blipFill>
          <a:blip r:embed="rId4">
            <a:alphaModFix/>
          </a:blip>
          <a:stretch>
            <a:fillRect/>
          </a:stretch>
        </p:blipFill>
        <p:spPr>
          <a:xfrm>
            <a:off x="3437312" y="1338662"/>
            <a:ext cx="5451163" cy="2180475"/>
          </a:xfrm>
          <a:prstGeom prst="rect">
            <a:avLst/>
          </a:prstGeom>
          <a:noFill/>
          <a:ln>
            <a:noFill/>
          </a:ln>
        </p:spPr>
      </p:pic>
      <p:sp>
        <p:nvSpPr>
          <p:cNvPr id="218" name="Google Shape;218;p39"/>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Model - </a:t>
            </a:r>
            <a:r>
              <a:rPr b="1" lang="en"/>
              <a:t>Results</a:t>
            </a:r>
            <a:r>
              <a:rPr lang="en"/>
              <a:t> - Conclusion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40"/>
          <p:cNvPicPr preferRelativeResize="0"/>
          <p:nvPr/>
        </p:nvPicPr>
        <p:blipFill>
          <a:blip r:embed="rId3">
            <a:alphaModFix/>
          </a:blip>
          <a:stretch>
            <a:fillRect/>
          </a:stretch>
        </p:blipFill>
        <p:spPr>
          <a:xfrm>
            <a:off x="310575" y="651483"/>
            <a:ext cx="4447175" cy="3516175"/>
          </a:xfrm>
          <a:prstGeom prst="rect">
            <a:avLst/>
          </a:prstGeom>
          <a:noFill/>
          <a:ln>
            <a:noFill/>
          </a:ln>
        </p:spPr>
      </p:pic>
      <p:sp>
        <p:nvSpPr>
          <p:cNvPr id="225" name="Google Shape;225;p40"/>
          <p:cNvSpPr/>
          <p:nvPr/>
        </p:nvSpPr>
        <p:spPr>
          <a:xfrm>
            <a:off x="5911398" y="220575"/>
            <a:ext cx="3359100" cy="717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 sz="2500">
                <a:solidFill>
                  <a:schemeClr val="dk1"/>
                </a:solidFill>
                <a:latin typeface="Radio Canada Big"/>
                <a:ea typeface="Radio Canada Big"/>
                <a:cs typeface="Radio Canada Big"/>
                <a:sym typeface="Radio Canada Big"/>
              </a:rPr>
              <a:t>Divergence of Trajectories</a:t>
            </a:r>
            <a:endParaRPr sz="2500">
              <a:solidFill>
                <a:schemeClr val="dk1"/>
              </a:solidFill>
              <a:latin typeface="Radio Canada Big"/>
              <a:ea typeface="Radio Canada Big"/>
              <a:cs typeface="Radio Canada Big"/>
              <a:sym typeface="Radio Canada Big"/>
            </a:endParaRPr>
          </a:p>
        </p:txBody>
      </p:sp>
      <p:sp>
        <p:nvSpPr>
          <p:cNvPr id="226" name="Google Shape;226;p40"/>
          <p:cNvSpPr/>
          <p:nvPr/>
        </p:nvSpPr>
        <p:spPr>
          <a:xfrm>
            <a:off x="2063313" y="268381"/>
            <a:ext cx="941700" cy="327000"/>
          </a:xfrm>
          <a:prstGeom prst="rect">
            <a:avLst/>
          </a:prstGeom>
          <a:noFill/>
          <a:ln>
            <a:noFill/>
          </a:ln>
        </p:spPr>
        <p:txBody>
          <a:bodyPr anchorCtr="0" anchor="t" bIns="45700" lIns="91425" spcFirstLastPara="1" rIns="91425" wrap="square" tIns="45700">
            <a:noAutofit/>
          </a:bodyPr>
          <a:lstStyle/>
          <a:p>
            <a:pPr indent="0" lvl="0" marL="0" rtl="0" algn="l">
              <a:lnSpc>
                <a:spcPct val="140000"/>
              </a:lnSpc>
              <a:spcBef>
                <a:spcPts val="0"/>
              </a:spcBef>
              <a:spcAft>
                <a:spcPts val="0"/>
              </a:spcAft>
              <a:buNone/>
            </a:pPr>
            <a:r>
              <a:rPr lang="en" sz="1800"/>
              <a:t> ε  = 1</a:t>
            </a:r>
            <a:endParaRPr sz="1800"/>
          </a:p>
        </p:txBody>
      </p:sp>
      <p:sp>
        <p:nvSpPr>
          <p:cNvPr id="227" name="Google Shape;227;p40"/>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40"/>
          <p:cNvSpPr txBox="1"/>
          <p:nvPr/>
        </p:nvSpPr>
        <p:spPr>
          <a:xfrm>
            <a:off x="1530275" y="4363156"/>
            <a:ext cx="1844100" cy="369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40000"/>
              </a:lnSpc>
              <a:spcBef>
                <a:spcPts val="1200"/>
              </a:spcBef>
              <a:spcAft>
                <a:spcPts val="1200"/>
              </a:spcAft>
              <a:buNone/>
            </a:pPr>
            <a:r>
              <a:rPr lang="en" sz="1200"/>
              <a:t>Diverging trajectories!</a:t>
            </a:r>
            <a:endParaRPr sz="1200"/>
          </a:p>
        </p:txBody>
      </p:sp>
      <p:sp>
        <p:nvSpPr>
          <p:cNvPr id="229" name="Google Shape;229;p40"/>
          <p:cNvSpPr txBox="1"/>
          <p:nvPr/>
        </p:nvSpPr>
        <p:spPr>
          <a:xfrm>
            <a:off x="4824749" y="3384700"/>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5</a:t>
            </a:r>
            <a:endParaRPr sz="1200">
              <a:solidFill>
                <a:schemeClr val="dk1"/>
              </a:solidFill>
              <a:latin typeface="arial"/>
              <a:ea typeface="arial"/>
              <a:cs typeface="arial"/>
              <a:sym typeface="arial"/>
            </a:endParaRPr>
          </a:p>
        </p:txBody>
      </p:sp>
      <p:sp>
        <p:nvSpPr>
          <p:cNvPr id="230" name="Google Shape;230;p40"/>
          <p:cNvSpPr txBox="1"/>
          <p:nvPr/>
        </p:nvSpPr>
        <p:spPr>
          <a:xfrm>
            <a:off x="178724" y="4100856"/>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6</a:t>
            </a:r>
            <a:endParaRPr sz="1200">
              <a:solidFill>
                <a:schemeClr val="dk1"/>
              </a:solidFill>
              <a:latin typeface="arial"/>
              <a:ea typeface="arial"/>
              <a:cs typeface="arial"/>
              <a:sym typeface="arial"/>
            </a:endParaRPr>
          </a:p>
        </p:txBody>
      </p:sp>
      <p:pic>
        <p:nvPicPr>
          <p:cNvPr id="231" name="Google Shape;231;p40" title="Comp Practical Project.png"/>
          <p:cNvPicPr preferRelativeResize="0"/>
          <p:nvPr/>
        </p:nvPicPr>
        <p:blipFill>
          <a:blip r:embed="rId4">
            <a:alphaModFix/>
          </a:blip>
          <a:stretch>
            <a:fillRect/>
          </a:stretch>
        </p:blipFill>
        <p:spPr>
          <a:xfrm>
            <a:off x="4974125" y="1829125"/>
            <a:ext cx="4030875" cy="1612360"/>
          </a:xfrm>
          <a:prstGeom prst="rect">
            <a:avLst/>
          </a:prstGeom>
          <a:noFill/>
          <a:ln>
            <a:noFill/>
          </a:ln>
        </p:spPr>
      </p:pic>
      <p:sp>
        <p:nvSpPr>
          <p:cNvPr id="232" name="Google Shape;232;p40"/>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Model - </a:t>
            </a:r>
            <a:r>
              <a:rPr b="1" lang="en"/>
              <a:t>Results</a:t>
            </a:r>
            <a:r>
              <a:rPr lang="en"/>
              <a:t> - Conclusion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1"/>
          <p:cNvSpPr/>
          <p:nvPr/>
        </p:nvSpPr>
        <p:spPr>
          <a:xfrm>
            <a:off x="6137850" y="159300"/>
            <a:ext cx="2693700" cy="657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 sz="2500">
                <a:solidFill>
                  <a:schemeClr val="dk1"/>
                </a:solidFill>
                <a:latin typeface="Radio Canada Big"/>
                <a:ea typeface="Radio Canada Big"/>
                <a:cs typeface="Radio Canada Big"/>
                <a:sym typeface="Radio Canada Big"/>
              </a:rPr>
              <a:t>Varying Perturbation</a:t>
            </a:r>
            <a:endParaRPr sz="2500">
              <a:solidFill>
                <a:schemeClr val="dk1"/>
              </a:solidFill>
              <a:latin typeface="Radio Canada Big"/>
              <a:ea typeface="Radio Canada Big"/>
              <a:cs typeface="Radio Canada Big"/>
              <a:sym typeface="Radio Canada Big"/>
            </a:endParaRPr>
          </a:p>
        </p:txBody>
      </p:sp>
      <p:sp>
        <p:nvSpPr>
          <p:cNvPr id="239" name="Google Shape;239;p41"/>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240" name="Google Shape;240;p41"/>
          <p:cNvGrpSpPr/>
          <p:nvPr/>
        </p:nvGrpSpPr>
        <p:grpSpPr>
          <a:xfrm>
            <a:off x="520917" y="1087543"/>
            <a:ext cx="2457187" cy="2252422"/>
            <a:chOff x="870737" y="408411"/>
            <a:chExt cx="3741150" cy="3428867"/>
          </a:xfrm>
        </p:grpSpPr>
        <p:pic>
          <p:nvPicPr>
            <p:cNvPr id="241" name="Google Shape;241;p41"/>
            <p:cNvPicPr preferRelativeResize="0"/>
            <p:nvPr/>
          </p:nvPicPr>
          <p:blipFill>
            <a:blip r:embed="rId3">
              <a:alphaModFix/>
            </a:blip>
            <a:stretch>
              <a:fillRect/>
            </a:stretch>
          </p:blipFill>
          <p:spPr>
            <a:xfrm>
              <a:off x="870737" y="879303"/>
              <a:ext cx="3741150" cy="2957975"/>
            </a:xfrm>
            <a:prstGeom prst="rect">
              <a:avLst/>
            </a:prstGeom>
            <a:noFill/>
            <a:ln>
              <a:noFill/>
            </a:ln>
          </p:spPr>
        </p:pic>
        <p:sp>
          <p:nvSpPr>
            <p:cNvPr id="242" name="Google Shape;242;p41"/>
            <p:cNvSpPr txBox="1"/>
            <p:nvPr/>
          </p:nvSpPr>
          <p:spPr>
            <a:xfrm>
              <a:off x="2208661" y="408411"/>
              <a:ext cx="1994700" cy="465900"/>
            </a:xfrm>
            <a:prstGeom prst="rect">
              <a:avLst/>
            </a:prstGeom>
            <a:noFill/>
            <a:ln>
              <a:noFill/>
            </a:ln>
          </p:spPr>
          <p:txBody>
            <a:bodyPr anchorCtr="0" anchor="t" bIns="60075" lIns="60075" spcFirstLastPara="1" rIns="60075" wrap="square" tIns="60075">
              <a:spAutoFit/>
            </a:bodyPr>
            <a:lstStyle/>
            <a:p>
              <a:pPr indent="0" lvl="0" marL="0" rtl="0" algn="l">
                <a:lnSpc>
                  <a:spcPct val="140000"/>
                </a:lnSpc>
                <a:spcBef>
                  <a:spcPts val="0"/>
                </a:spcBef>
                <a:spcAft>
                  <a:spcPts val="0"/>
                </a:spcAft>
                <a:buNone/>
              </a:pPr>
              <a:r>
                <a:rPr lang="en" sz="1200"/>
                <a:t>ε = 0.001</a:t>
              </a:r>
              <a:endParaRPr sz="1200">
                <a:solidFill>
                  <a:schemeClr val="dk2"/>
                </a:solidFill>
              </a:endParaRPr>
            </a:p>
          </p:txBody>
        </p:sp>
      </p:grpSp>
      <p:sp>
        <p:nvSpPr>
          <p:cNvPr id="243" name="Google Shape;243;p41"/>
          <p:cNvSpPr txBox="1"/>
          <p:nvPr/>
        </p:nvSpPr>
        <p:spPr>
          <a:xfrm>
            <a:off x="1211550" y="4232475"/>
            <a:ext cx="950400" cy="3387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1F1F1F"/>
                </a:solidFill>
              </a:rPr>
              <a:t>C</a:t>
            </a:r>
            <a:r>
              <a:rPr lang="en" sz="1000">
                <a:solidFill>
                  <a:srgbClr val="1F1F1F"/>
                </a:solidFill>
              </a:rPr>
              <a:t>onvergence</a:t>
            </a:r>
            <a:endParaRPr sz="1000">
              <a:solidFill>
                <a:srgbClr val="1F1F1F"/>
              </a:solidFill>
            </a:endParaRPr>
          </a:p>
        </p:txBody>
      </p:sp>
      <p:pic>
        <p:nvPicPr>
          <p:cNvPr id="244" name="Google Shape;244;p41"/>
          <p:cNvPicPr preferRelativeResize="0"/>
          <p:nvPr/>
        </p:nvPicPr>
        <p:blipFill>
          <a:blip r:embed="rId4">
            <a:alphaModFix/>
          </a:blip>
          <a:stretch>
            <a:fillRect/>
          </a:stretch>
        </p:blipFill>
        <p:spPr>
          <a:xfrm>
            <a:off x="3450788" y="517400"/>
            <a:ext cx="2172451" cy="1717674"/>
          </a:xfrm>
          <a:prstGeom prst="rect">
            <a:avLst/>
          </a:prstGeom>
          <a:noFill/>
          <a:ln>
            <a:noFill/>
          </a:ln>
        </p:spPr>
      </p:pic>
      <p:sp>
        <p:nvSpPr>
          <p:cNvPr id="245" name="Google Shape;245;p41"/>
          <p:cNvSpPr txBox="1"/>
          <p:nvPr/>
        </p:nvSpPr>
        <p:spPr>
          <a:xfrm>
            <a:off x="4163963" y="181075"/>
            <a:ext cx="1015800" cy="3693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 sz="1200"/>
              <a:t> ε  = 0.003</a:t>
            </a:r>
            <a:endParaRPr sz="1200">
              <a:solidFill>
                <a:schemeClr val="dk2"/>
              </a:solidFill>
            </a:endParaRPr>
          </a:p>
        </p:txBody>
      </p:sp>
      <p:pic>
        <p:nvPicPr>
          <p:cNvPr id="246" name="Google Shape;246;p41"/>
          <p:cNvPicPr preferRelativeResize="0"/>
          <p:nvPr/>
        </p:nvPicPr>
        <p:blipFill>
          <a:blip r:embed="rId5">
            <a:alphaModFix/>
          </a:blip>
          <a:stretch>
            <a:fillRect/>
          </a:stretch>
        </p:blipFill>
        <p:spPr>
          <a:xfrm>
            <a:off x="3450795" y="2334802"/>
            <a:ext cx="2172455" cy="1717681"/>
          </a:xfrm>
          <a:prstGeom prst="rect">
            <a:avLst/>
          </a:prstGeom>
          <a:noFill/>
          <a:ln>
            <a:noFill/>
          </a:ln>
        </p:spPr>
      </p:pic>
      <p:sp>
        <p:nvSpPr>
          <p:cNvPr id="247" name="Google Shape;247;p41"/>
          <p:cNvSpPr txBox="1"/>
          <p:nvPr/>
        </p:nvSpPr>
        <p:spPr>
          <a:xfrm>
            <a:off x="3586913" y="4313475"/>
            <a:ext cx="1900200" cy="3387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1F1F1F"/>
                </a:solidFill>
              </a:rPr>
              <a:t>Convergence and Divergence</a:t>
            </a:r>
            <a:endParaRPr sz="1000">
              <a:solidFill>
                <a:srgbClr val="1F1F1F"/>
              </a:solidFill>
            </a:endParaRPr>
          </a:p>
        </p:txBody>
      </p:sp>
      <p:pic>
        <p:nvPicPr>
          <p:cNvPr id="248" name="Google Shape;248;p41"/>
          <p:cNvPicPr preferRelativeResize="0"/>
          <p:nvPr/>
        </p:nvPicPr>
        <p:blipFill>
          <a:blip r:embed="rId6">
            <a:alphaModFix/>
          </a:blip>
          <a:stretch>
            <a:fillRect/>
          </a:stretch>
        </p:blipFill>
        <p:spPr>
          <a:xfrm>
            <a:off x="6137850" y="1396884"/>
            <a:ext cx="2457175" cy="1942769"/>
          </a:xfrm>
          <a:prstGeom prst="rect">
            <a:avLst/>
          </a:prstGeom>
          <a:noFill/>
          <a:ln>
            <a:noFill/>
          </a:ln>
        </p:spPr>
      </p:pic>
      <p:sp>
        <p:nvSpPr>
          <p:cNvPr id="249" name="Google Shape;249;p41"/>
          <p:cNvSpPr txBox="1"/>
          <p:nvPr/>
        </p:nvSpPr>
        <p:spPr>
          <a:xfrm>
            <a:off x="6817147" y="1084284"/>
            <a:ext cx="1015200" cy="312600"/>
          </a:xfrm>
          <a:prstGeom prst="rect">
            <a:avLst/>
          </a:prstGeom>
          <a:noFill/>
          <a:ln>
            <a:noFill/>
          </a:ln>
        </p:spPr>
        <p:txBody>
          <a:bodyPr anchorCtr="0" anchor="t" bIns="63350" lIns="63350" spcFirstLastPara="1" rIns="63350" wrap="square" tIns="63350">
            <a:spAutoFit/>
          </a:bodyPr>
          <a:lstStyle/>
          <a:p>
            <a:pPr indent="0" lvl="0" marL="0" rtl="0" algn="l">
              <a:lnSpc>
                <a:spcPct val="140000"/>
              </a:lnSpc>
              <a:spcBef>
                <a:spcPts val="0"/>
              </a:spcBef>
              <a:spcAft>
                <a:spcPts val="0"/>
              </a:spcAft>
              <a:buNone/>
            </a:pPr>
            <a:r>
              <a:rPr lang="en" sz="1200"/>
              <a:t> ε  = 0.01</a:t>
            </a:r>
            <a:endParaRPr sz="1200">
              <a:solidFill>
                <a:schemeClr val="dk2"/>
              </a:solidFill>
            </a:endParaRPr>
          </a:p>
        </p:txBody>
      </p:sp>
      <p:sp>
        <p:nvSpPr>
          <p:cNvPr id="250" name="Google Shape;250;p41"/>
          <p:cNvSpPr txBox="1"/>
          <p:nvPr/>
        </p:nvSpPr>
        <p:spPr>
          <a:xfrm>
            <a:off x="6912088" y="4232475"/>
            <a:ext cx="825300" cy="3387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191919"/>
                </a:solidFill>
              </a:rPr>
              <a:t>Divergence</a:t>
            </a:r>
            <a:endParaRPr sz="1000">
              <a:solidFill>
                <a:srgbClr val="191919"/>
              </a:solidFill>
            </a:endParaRPr>
          </a:p>
        </p:txBody>
      </p:sp>
      <p:cxnSp>
        <p:nvCxnSpPr>
          <p:cNvPr id="251" name="Google Shape;251;p41"/>
          <p:cNvCxnSpPr/>
          <p:nvPr/>
        </p:nvCxnSpPr>
        <p:spPr>
          <a:xfrm flipH="1">
            <a:off x="3109325" y="181075"/>
            <a:ext cx="22200" cy="4502100"/>
          </a:xfrm>
          <a:prstGeom prst="straightConnector1">
            <a:avLst/>
          </a:prstGeom>
          <a:noFill/>
          <a:ln cap="flat" cmpd="sng" w="19050">
            <a:solidFill>
              <a:srgbClr val="999999"/>
            </a:solidFill>
            <a:prstDash val="solid"/>
            <a:round/>
            <a:headEnd len="med" w="med" type="none"/>
            <a:tailEnd len="med" w="med" type="none"/>
          </a:ln>
        </p:spPr>
      </p:cxnSp>
      <p:cxnSp>
        <p:nvCxnSpPr>
          <p:cNvPr id="252" name="Google Shape;252;p41"/>
          <p:cNvCxnSpPr/>
          <p:nvPr/>
        </p:nvCxnSpPr>
        <p:spPr>
          <a:xfrm flipH="1">
            <a:off x="5848488" y="181075"/>
            <a:ext cx="22200" cy="4502100"/>
          </a:xfrm>
          <a:prstGeom prst="straightConnector1">
            <a:avLst/>
          </a:prstGeom>
          <a:noFill/>
          <a:ln cap="flat" cmpd="sng" w="19050">
            <a:solidFill>
              <a:srgbClr val="999999"/>
            </a:solidFill>
            <a:prstDash val="solid"/>
            <a:round/>
            <a:headEnd len="med" w="med" type="none"/>
            <a:tailEnd len="med" w="med" type="none"/>
          </a:ln>
        </p:spPr>
      </p:cxnSp>
      <p:sp>
        <p:nvSpPr>
          <p:cNvPr id="253" name="Google Shape;253;p41"/>
          <p:cNvSpPr txBox="1"/>
          <p:nvPr/>
        </p:nvSpPr>
        <p:spPr>
          <a:xfrm>
            <a:off x="367724" y="3249500"/>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7</a:t>
            </a:r>
            <a:endParaRPr sz="1200">
              <a:solidFill>
                <a:schemeClr val="dk1"/>
              </a:solidFill>
              <a:latin typeface="arial"/>
              <a:ea typeface="arial"/>
              <a:cs typeface="arial"/>
              <a:sym typeface="arial"/>
            </a:endParaRPr>
          </a:p>
        </p:txBody>
      </p:sp>
      <p:sp>
        <p:nvSpPr>
          <p:cNvPr id="254" name="Google Shape;254;p41"/>
          <p:cNvSpPr txBox="1"/>
          <p:nvPr/>
        </p:nvSpPr>
        <p:spPr>
          <a:xfrm>
            <a:off x="3321950" y="3944175"/>
            <a:ext cx="899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8 &amp; 9</a:t>
            </a:r>
            <a:endParaRPr sz="1200">
              <a:solidFill>
                <a:schemeClr val="dk1"/>
              </a:solidFill>
              <a:latin typeface="arial"/>
              <a:ea typeface="arial"/>
              <a:cs typeface="arial"/>
              <a:sym typeface="arial"/>
            </a:endParaRPr>
          </a:p>
        </p:txBody>
      </p:sp>
      <p:sp>
        <p:nvSpPr>
          <p:cNvPr id="255" name="Google Shape;255;p41"/>
          <p:cNvSpPr txBox="1"/>
          <p:nvPr/>
        </p:nvSpPr>
        <p:spPr>
          <a:xfrm>
            <a:off x="5942525" y="3249500"/>
            <a:ext cx="80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10</a:t>
            </a:r>
            <a:endParaRPr sz="1200">
              <a:solidFill>
                <a:schemeClr val="dk1"/>
              </a:solidFill>
              <a:latin typeface="arial"/>
              <a:ea typeface="arial"/>
              <a:cs typeface="arial"/>
              <a:sym typeface="arial"/>
            </a:endParaRPr>
          </a:p>
        </p:txBody>
      </p:sp>
      <p:sp>
        <p:nvSpPr>
          <p:cNvPr id="256" name="Google Shape;256;p41"/>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Model - </a:t>
            </a:r>
            <a:r>
              <a:rPr b="1" lang="en"/>
              <a:t>Results</a:t>
            </a:r>
            <a:r>
              <a:rPr lang="en"/>
              <a:t> - Conclusion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p:nvPr/>
        </p:nvSpPr>
        <p:spPr>
          <a:xfrm>
            <a:off x="5048275" y="476270"/>
            <a:ext cx="3619200" cy="1908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 sz="3500">
                <a:solidFill>
                  <a:schemeClr val="dk1"/>
                </a:solidFill>
                <a:latin typeface="Radio Canada Big"/>
                <a:ea typeface="Radio Canada Big"/>
                <a:cs typeface="Radio Canada Big"/>
                <a:sym typeface="Radio Canada Big"/>
              </a:rPr>
              <a:t>Sensitivity to finite perturbations</a:t>
            </a:r>
            <a:endParaRPr sz="3500">
              <a:solidFill>
                <a:schemeClr val="dk1"/>
              </a:solidFill>
              <a:latin typeface="Radio Canada Big"/>
              <a:ea typeface="Radio Canada Big"/>
              <a:cs typeface="Radio Canada Big"/>
              <a:sym typeface="Radio Canada Big"/>
            </a:endParaRPr>
          </a:p>
          <a:p>
            <a:pPr indent="0" lvl="0" marL="0" marR="0" rtl="0" algn="l">
              <a:lnSpc>
                <a:spcPct val="100000"/>
              </a:lnSpc>
              <a:spcBef>
                <a:spcPts val="0"/>
              </a:spcBef>
              <a:spcAft>
                <a:spcPts val="0"/>
              </a:spcAft>
              <a:buNone/>
            </a:pPr>
            <a:r>
              <a:t/>
            </a:r>
            <a:endParaRPr sz="3500">
              <a:solidFill>
                <a:schemeClr val="dk1"/>
              </a:solidFill>
              <a:latin typeface="Radio Canada Big"/>
              <a:ea typeface="Radio Canada Big"/>
              <a:cs typeface="Radio Canada Big"/>
              <a:sym typeface="Radio Canada Big"/>
            </a:endParaRPr>
          </a:p>
        </p:txBody>
      </p:sp>
      <p:sp>
        <p:nvSpPr>
          <p:cNvPr id="263" name="Google Shape;263;p42"/>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4" name="Google Shape;264;p42"/>
          <p:cNvPicPr preferRelativeResize="0"/>
          <p:nvPr/>
        </p:nvPicPr>
        <p:blipFill rotWithShape="1">
          <a:blip r:embed="rId3">
            <a:alphaModFix/>
          </a:blip>
          <a:srcRect b="0" l="833" r="0" t="0"/>
          <a:stretch/>
        </p:blipFill>
        <p:spPr>
          <a:xfrm>
            <a:off x="197550" y="661275"/>
            <a:ext cx="4755200" cy="3820976"/>
          </a:xfrm>
          <a:prstGeom prst="rect">
            <a:avLst/>
          </a:prstGeom>
          <a:noFill/>
          <a:ln>
            <a:noFill/>
          </a:ln>
        </p:spPr>
      </p:pic>
      <p:sp>
        <p:nvSpPr>
          <p:cNvPr id="265" name="Google Shape;265;p42"/>
          <p:cNvSpPr txBox="1"/>
          <p:nvPr/>
        </p:nvSpPr>
        <p:spPr>
          <a:xfrm>
            <a:off x="197549" y="4412825"/>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11</a:t>
            </a:r>
            <a:endParaRPr sz="1200">
              <a:solidFill>
                <a:schemeClr val="dk1"/>
              </a:solidFill>
              <a:latin typeface="arial"/>
              <a:ea typeface="arial"/>
              <a:cs typeface="arial"/>
              <a:sym typeface="arial"/>
            </a:endParaRPr>
          </a:p>
        </p:txBody>
      </p:sp>
      <p:sp>
        <p:nvSpPr>
          <p:cNvPr id="266" name="Google Shape;266;p42"/>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Model - </a:t>
            </a:r>
            <a:r>
              <a:rPr b="1" lang="en"/>
              <a:t>Results</a:t>
            </a:r>
            <a:r>
              <a:rPr lang="en"/>
              <a:t> - Conclusion</a:t>
            </a:r>
            <a:endParaRPr/>
          </a:p>
        </p:txBody>
      </p:sp>
      <p:pic>
        <p:nvPicPr>
          <p:cNvPr id="267" name="Google Shape;267;p42" title="Screenshot 2026-02-11 at 21.16.29.png"/>
          <p:cNvPicPr preferRelativeResize="0"/>
          <p:nvPr/>
        </p:nvPicPr>
        <p:blipFill>
          <a:blip r:embed="rId4">
            <a:alphaModFix/>
          </a:blip>
          <a:stretch>
            <a:fillRect/>
          </a:stretch>
        </p:blipFill>
        <p:spPr>
          <a:xfrm>
            <a:off x="6413034" y="2239550"/>
            <a:ext cx="1594566" cy="2173275"/>
          </a:xfrm>
          <a:prstGeom prst="rect">
            <a:avLst/>
          </a:prstGeom>
          <a:noFill/>
          <a:ln>
            <a:noFill/>
          </a:ln>
        </p:spPr>
      </p:pic>
      <p:sp>
        <p:nvSpPr>
          <p:cNvPr id="268" name="Google Shape;268;p42"/>
          <p:cNvSpPr txBox="1"/>
          <p:nvPr/>
        </p:nvSpPr>
        <p:spPr>
          <a:xfrm>
            <a:off x="6371513" y="4320725"/>
            <a:ext cx="16776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chemeClr val="dk1"/>
                </a:solidFill>
                <a:latin typeface="arial"/>
                <a:ea typeface="arial"/>
                <a:cs typeface="arial"/>
                <a:sym typeface="arial"/>
              </a:rPr>
              <a:t>Monteforte &amp; Wolf (2012)</a:t>
            </a:r>
            <a:endParaRPr sz="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3"/>
          <p:cNvSpPr txBox="1"/>
          <p:nvPr>
            <p:ph type="title"/>
          </p:nvPr>
        </p:nvSpPr>
        <p:spPr>
          <a:xfrm>
            <a:off x="457200" y="228600"/>
            <a:ext cx="77037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Voltage Space</a:t>
            </a:r>
            <a:endParaRPr/>
          </a:p>
        </p:txBody>
      </p:sp>
      <p:sp>
        <p:nvSpPr>
          <p:cNvPr id="274" name="Google Shape;274;p43"/>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43"/>
          <p:cNvSpPr txBox="1"/>
          <p:nvPr/>
        </p:nvSpPr>
        <p:spPr>
          <a:xfrm>
            <a:off x="457199" y="4427460"/>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12</a:t>
            </a:r>
            <a:endParaRPr sz="1200">
              <a:solidFill>
                <a:schemeClr val="dk1"/>
              </a:solidFill>
              <a:latin typeface="arial"/>
              <a:ea typeface="arial"/>
              <a:cs typeface="arial"/>
              <a:sym typeface="arial"/>
            </a:endParaRPr>
          </a:p>
        </p:txBody>
      </p:sp>
      <p:sp>
        <p:nvSpPr>
          <p:cNvPr id="276" name="Google Shape;276;p43"/>
          <p:cNvSpPr txBox="1"/>
          <p:nvPr/>
        </p:nvSpPr>
        <p:spPr>
          <a:xfrm>
            <a:off x="4948799" y="4427460"/>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13</a:t>
            </a:r>
            <a:endParaRPr sz="1200">
              <a:solidFill>
                <a:schemeClr val="dk1"/>
              </a:solidFill>
              <a:latin typeface="arial"/>
              <a:ea typeface="arial"/>
              <a:cs typeface="arial"/>
              <a:sym typeface="arial"/>
            </a:endParaRPr>
          </a:p>
        </p:txBody>
      </p:sp>
      <p:pic>
        <p:nvPicPr>
          <p:cNvPr id="277" name="Google Shape;277;p43" title="Comp Practical Project-2.png"/>
          <p:cNvPicPr preferRelativeResize="0"/>
          <p:nvPr/>
        </p:nvPicPr>
        <p:blipFill>
          <a:blip r:embed="rId3">
            <a:alphaModFix/>
          </a:blip>
          <a:stretch>
            <a:fillRect/>
          </a:stretch>
        </p:blipFill>
        <p:spPr>
          <a:xfrm>
            <a:off x="585524" y="965800"/>
            <a:ext cx="3471901" cy="3520686"/>
          </a:xfrm>
          <a:prstGeom prst="rect">
            <a:avLst/>
          </a:prstGeom>
          <a:noFill/>
          <a:ln>
            <a:noFill/>
          </a:ln>
        </p:spPr>
      </p:pic>
      <p:pic>
        <p:nvPicPr>
          <p:cNvPr id="278" name="Google Shape;278;p43" title="Comp Practical Project-3.png"/>
          <p:cNvPicPr preferRelativeResize="0"/>
          <p:nvPr/>
        </p:nvPicPr>
        <p:blipFill>
          <a:blip r:embed="rId4">
            <a:alphaModFix/>
          </a:blip>
          <a:stretch>
            <a:fillRect/>
          </a:stretch>
        </p:blipFill>
        <p:spPr>
          <a:xfrm>
            <a:off x="5051225" y="965800"/>
            <a:ext cx="3513627" cy="3461650"/>
          </a:xfrm>
          <a:prstGeom prst="rect">
            <a:avLst/>
          </a:prstGeom>
          <a:noFill/>
          <a:ln>
            <a:noFill/>
          </a:ln>
        </p:spPr>
      </p:pic>
      <p:sp>
        <p:nvSpPr>
          <p:cNvPr id="279" name="Google Shape;279;p43"/>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Model - </a:t>
            </a:r>
            <a:r>
              <a:rPr b="1" lang="en"/>
              <a:t>Results</a:t>
            </a:r>
            <a:r>
              <a:rPr lang="en"/>
              <a:t> - Conclusion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4"/>
          <p:cNvSpPr txBox="1"/>
          <p:nvPr>
            <p:ph type="title"/>
          </p:nvPr>
        </p:nvSpPr>
        <p:spPr>
          <a:xfrm>
            <a:off x="457200" y="228600"/>
            <a:ext cx="77037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Voltage Space</a:t>
            </a:r>
            <a:endParaRPr/>
          </a:p>
        </p:txBody>
      </p:sp>
      <p:sp>
        <p:nvSpPr>
          <p:cNvPr id="285" name="Google Shape;285;p44"/>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86" name="Google Shape;286;p44" title="Comp Practical Project-2.png"/>
          <p:cNvPicPr preferRelativeResize="0"/>
          <p:nvPr/>
        </p:nvPicPr>
        <p:blipFill>
          <a:blip r:embed="rId3">
            <a:alphaModFix/>
          </a:blip>
          <a:stretch>
            <a:fillRect/>
          </a:stretch>
        </p:blipFill>
        <p:spPr>
          <a:xfrm>
            <a:off x="585524" y="965800"/>
            <a:ext cx="3471901" cy="3520686"/>
          </a:xfrm>
          <a:prstGeom prst="rect">
            <a:avLst/>
          </a:prstGeom>
          <a:noFill/>
          <a:ln>
            <a:noFill/>
          </a:ln>
        </p:spPr>
      </p:pic>
      <p:sp>
        <p:nvSpPr>
          <p:cNvPr id="287" name="Google Shape;287;p44"/>
          <p:cNvSpPr txBox="1"/>
          <p:nvPr/>
        </p:nvSpPr>
        <p:spPr>
          <a:xfrm>
            <a:off x="464516" y="4427460"/>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12</a:t>
            </a:r>
            <a:endParaRPr sz="1200">
              <a:solidFill>
                <a:schemeClr val="dk1"/>
              </a:solidFill>
              <a:latin typeface="arial"/>
              <a:ea typeface="arial"/>
              <a:cs typeface="arial"/>
              <a:sym typeface="arial"/>
            </a:endParaRPr>
          </a:p>
        </p:txBody>
      </p:sp>
      <p:sp>
        <p:nvSpPr>
          <p:cNvPr id="288" name="Google Shape;288;p44"/>
          <p:cNvSpPr txBox="1"/>
          <p:nvPr/>
        </p:nvSpPr>
        <p:spPr>
          <a:xfrm>
            <a:off x="4956116" y="4427460"/>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14</a:t>
            </a:r>
            <a:endParaRPr sz="1200">
              <a:solidFill>
                <a:schemeClr val="dk1"/>
              </a:solidFill>
              <a:latin typeface="arial"/>
              <a:ea typeface="arial"/>
              <a:cs typeface="arial"/>
              <a:sym typeface="arial"/>
            </a:endParaRPr>
          </a:p>
        </p:txBody>
      </p:sp>
      <p:pic>
        <p:nvPicPr>
          <p:cNvPr id="289" name="Google Shape;289;p44" title="Comp Practical Project-7.png"/>
          <p:cNvPicPr preferRelativeResize="0"/>
          <p:nvPr/>
        </p:nvPicPr>
        <p:blipFill>
          <a:blip r:embed="rId4">
            <a:alphaModFix/>
          </a:blip>
          <a:stretch>
            <a:fillRect/>
          </a:stretch>
        </p:blipFill>
        <p:spPr>
          <a:xfrm>
            <a:off x="5051225" y="991813"/>
            <a:ext cx="3547135" cy="3494663"/>
          </a:xfrm>
          <a:prstGeom prst="rect">
            <a:avLst/>
          </a:prstGeom>
          <a:noFill/>
          <a:ln>
            <a:noFill/>
          </a:ln>
        </p:spPr>
      </p:pic>
      <p:sp>
        <p:nvSpPr>
          <p:cNvPr id="290" name="Google Shape;290;p44"/>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Model - </a:t>
            </a:r>
            <a:r>
              <a:rPr b="1" lang="en"/>
              <a:t>Results</a:t>
            </a:r>
            <a:r>
              <a:rPr lang="en"/>
              <a:t> - Conclusion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5"/>
          <p:cNvSpPr txBox="1"/>
          <p:nvPr>
            <p:ph type="title"/>
          </p:nvPr>
        </p:nvSpPr>
        <p:spPr>
          <a:xfrm>
            <a:off x="457200" y="228600"/>
            <a:ext cx="77037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Voltage Space</a:t>
            </a:r>
            <a:endParaRPr/>
          </a:p>
        </p:txBody>
      </p:sp>
      <p:sp>
        <p:nvSpPr>
          <p:cNvPr id="296" name="Google Shape;296;p45"/>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97" name="Google Shape;297;p45" title="Comp Practical Project-2.png"/>
          <p:cNvPicPr preferRelativeResize="0"/>
          <p:nvPr/>
        </p:nvPicPr>
        <p:blipFill>
          <a:blip r:embed="rId3">
            <a:alphaModFix/>
          </a:blip>
          <a:stretch>
            <a:fillRect/>
          </a:stretch>
        </p:blipFill>
        <p:spPr>
          <a:xfrm>
            <a:off x="585524" y="965800"/>
            <a:ext cx="3471901" cy="3520686"/>
          </a:xfrm>
          <a:prstGeom prst="rect">
            <a:avLst/>
          </a:prstGeom>
          <a:noFill/>
          <a:ln>
            <a:noFill/>
          </a:ln>
        </p:spPr>
      </p:pic>
      <p:pic>
        <p:nvPicPr>
          <p:cNvPr id="298" name="Google Shape;298;p45" title="Comp Practical Project-6.png"/>
          <p:cNvPicPr preferRelativeResize="0"/>
          <p:nvPr/>
        </p:nvPicPr>
        <p:blipFill>
          <a:blip r:embed="rId4">
            <a:alphaModFix/>
          </a:blip>
          <a:stretch>
            <a:fillRect/>
          </a:stretch>
        </p:blipFill>
        <p:spPr>
          <a:xfrm>
            <a:off x="4899850" y="1006917"/>
            <a:ext cx="3471900" cy="3420536"/>
          </a:xfrm>
          <a:prstGeom prst="rect">
            <a:avLst/>
          </a:prstGeom>
          <a:noFill/>
          <a:ln>
            <a:noFill/>
          </a:ln>
        </p:spPr>
      </p:pic>
      <p:sp>
        <p:nvSpPr>
          <p:cNvPr id="299" name="Google Shape;299;p45"/>
          <p:cNvSpPr txBox="1"/>
          <p:nvPr/>
        </p:nvSpPr>
        <p:spPr>
          <a:xfrm>
            <a:off x="457199" y="4427460"/>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12</a:t>
            </a:r>
            <a:endParaRPr sz="1200">
              <a:solidFill>
                <a:schemeClr val="dk1"/>
              </a:solidFill>
              <a:latin typeface="arial"/>
              <a:ea typeface="arial"/>
              <a:cs typeface="arial"/>
              <a:sym typeface="arial"/>
            </a:endParaRPr>
          </a:p>
        </p:txBody>
      </p:sp>
      <p:sp>
        <p:nvSpPr>
          <p:cNvPr id="300" name="Google Shape;300;p45"/>
          <p:cNvSpPr txBox="1"/>
          <p:nvPr/>
        </p:nvSpPr>
        <p:spPr>
          <a:xfrm>
            <a:off x="4948799" y="4427460"/>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15</a:t>
            </a:r>
            <a:endParaRPr sz="1200">
              <a:solidFill>
                <a:schemeClr val="dk1"/>
              </a:solidFill>
              <a:latin typeface="arial"/>
              <a:ea typeface="arial"/>
              <a:cs typeface="arial"/>
              <a:sym typeface="arial"/>
            </a:endParaRPr>
          </a:p>
        </p:txBody>
      </p:sp>
      <p:sp>
        <p:nvSpPr>
          <p:cNvPr id="301" name="Google Shape;301;p45"/>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Model - </a:t>
            </a:r>
            <a:r>
              <a:rPr b="1" lang="en"/>
              <a:t>Results</a:t>
            </a:r>
            <a:r>
              <a:rPr lang="en"/>
              <a:t> - Conclusion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6"/>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6"/>
          <p:cNvSpPr/>
          <p:nvPr/>
        </p:nvSpPr>
        <p:spPr>
          <a:xfrm>
            <a:off x="4806949" y="628675"/>
            <a:ext cx="40128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 sz="3500">
                <a:solidFill>
                  <a:schemeClr val="dk1"/>
                </a:solidFill>
                <a:latin typeface="Radio Canada Big"/>
                <a:ea typeface="Radio Canada Big"/>
                <a:cs typeface="Radio Canada Big"/>
                <a:sym typeface="Radio Canada Big"/>
              </a:rPr>
              <a:t>Visualization of the phase-space structure</a:t>
            </a:r>
            <a:endParaRPr sz="700"/>
          </a:p>
          <a:p>
            <a:pPr indent="0" lvl="0" marL="0" rtl="0" algn="l">
              <a:spcBef>
                <a:spcPts val="0"/>
              </a:spcBef>
              <a:spcAft>
                <a:spcPts val="0"/>
              </a:spcAft>
              <a:buNone/>
            </a:pPr>
            <a:r>
              <a:t/>
            </a:r>
            <a:endParaRPr sz="3500">
              <a:solidFill>
                <a:schemeClr val="dk1"/>
              </a:solidFill>
              <a:latin typeface="Radio Canada Big"/>
              <a:ea typeface="Radio Canada Big"/>
              <a:cs typeface="Radio Canada Big"/>
              <a:sym typeface="Radio Canada Big"/>
            </a:endParaRPr>
          </a:p>
        </p:txBody>
      </p:sp>
      <p:sp>
        <p:nvSpPr>
          <p:cNvPr id="309" name="Google Shape;309;p46"/>
          <p:cNvSpPr txBox="1"/>
          <p:nvPr/>
        </p:nvSpPr>
        <p:spPr>
          <a:xfrm>
            <a:off x="691174" y="4283760"/>
            <a:ext cx="714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Fig. 16</a:t>
            </a:r>
            <a:endParaRPr sz="1200">
              <a:solidFill>
                <a:schemeClr val="dk1"/>
              </a:solidFill>
              <a:latin typeface="arial"/>
              <a:ea typeface="arial"/>
              <a:cs typeface="arial"/>
              <a:sym typeface="arial"/>
            </a:endParaRPr>
          </a:p>
        </p:txBody>
      </p:sp>
      <p:pic>
        <p:nvPicPr>
          <p:cNvPr id="310" name="Google Shape;310;p46" title="Comp Practical Project-6.png"/>
          <p:cNvPicPr preferRelativeResize="0"/>
          <p:nvPr/>
        </p:nvPicPr>
        <p:blipFill>
          <a:blip r:embed="rId3">
            <a:alphaModFix/>
          </a:blip>
          <a:stretch>
            <a:fillRect/>
          </a:stretch>
        </p:blipFill>
        <p:spPr>
          <a:xfrm>
            <a:off x="5909925" y="2571750"/>
            <a:ext cx="1932100" cy="1903525"/>
          </a:xfrm>
          <a:prstGeom prst="rect">
            <a:avLst/>
          </a:prstGeom>
          <a:noFill/>
          <a:ln>
            <a:noFill/>
          </a:ln>
        </p:spPr>
      </p:pic>
      <p:sp>
        <p:nvSpPr>
          <p:cNvPr id="311" name="Google Shape;311;p46"/>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Model - </a:t>
            </a:r>
            <a:r>
              <a:rPr b="1" lang="en"/>
              <a:t>Results</a:t>
            </a:r>
            <a:r>
              <a:rPr lang="en"/>
              <a:t> - Conclusion</a:t>
            </a:r>
            <a:endParaRPr/>
          </a:p>
        </p:txBody>
      </p:sp>
      <p:pic>
        <p:nvPicPr>
          <p:cNvPr id="312" name="Google Shape;312;p46"/>
          <p:cNvPicPr preferRelativeResize="0"/>
          <p:nvPr/>
        </p:nvPicPr>
        <p:blipFill>
          <a:blip r:embed="rId4">
            <a:alphaModFix/>
          </a:blip>
          <a:stretch>
            <a:fillRect/>
          </a:stretch>
        </p:blipFill>
        <p:spPr>
          <a:xfrm>
            <a:off x="691175" y="861975"/>
            <a:ext cx="3613624" cy="341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7"/>
          <p:cNvSpPr txBox="1"/>
          <p:nvPr>
            <p:ph type="title"/>
          </p:nvPr>
        </p:nvSpPr>
        <p:spPr>
          <a:xfrm>
            <a:off x="457200" y="228600"/>
            <a:ext cx="6933900" cy="149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500"/>
              <a:buFont typeface="Radio Canada Big"/>
              <a:buNone/>
            </a:pPr>
            <a:r>
              <a:rPr lang="en" sz="3500">
                <a:latin typeface="Radio Canada Big"/>
                <a:ea typeface="Radio Canada Big"/>
                <a:cs typeface="Radio Canada Big"/>
                <a:sym typeface="Radio Canada Big"/>
              </a:rPr>
              <a:t>Conclusion</a:t>
            </a:r>
            <a:endParaRPr sz="3500">
              <a:latin typeface="Radio Canada Big"/>
              <a:ea typeface="Radio Canada Big"/>
              <a:cs typeface="Radio Canada Big"/>
              <a:sym typeface="Radio Canada Big"/>
            </a:endParaRPr>
          </a:p>
        </p:txBody>
      </p:sp>
      <p:sp>
        <p:nvSpPr>
          <p:cNvPr id="318" name="Google Shape;318;p47"/>
          <p:cNvSpPr txBox="1"/>
          <p:nvPr>
            <p:ph idx="1" type="subTitle"/>
          </p:nvPr>
        </p:nvSpPr>
        <p:spPr>
          <a:xfrm>
            <a:off x="1902300" y="1214550"/>
            <a:ext cx="6292200" cy="3699900"/>
          </a:xfrm>
          <a:prstGeom prst="rect">
            <a:avLst/>
          </a:prstGeom>
          <a:noFill/>
          <a:ln>
            <a:noFill/>
          </a:ln>
        </p:spPr>
        <p:txBody>
          <a:bodyPr anchorCtr="0" anchor="t" bIns="91425" lIns="91425" spcFirstLastPara="1" rIns="91425" wrap="square" tIns="91425">
            <a:normAutofit/>
          </a:bodyPr>
          <a:lstStyle/>
          <a:p>
            <a:pPr indent="0" lvl="0" marL="0" marR="0" rtl="0" algn="l">
              <a:lnSpc>
                <a:spcPct val="140000"/>
              </a:lnSpc>
              <a:spcBef>
                <a:spcPts val="0"/>
              </a:spcBef>
              <a:spcAft>
                <a:spcPts val="0"/>
              </a:spcAft>
              <a:buNone/>
            </a:pPr>
            <a:r>
              <a:rPr lang="en" sz="2000">
                <a:solidFill>
                  <a:schemeClr val="dk1"/>
                </a:solidFill>
                <a:latin typeface="arial"/>
                <a:ea typeface="arial"/>
                <a:cs typeface="arial"/>
                <a:sym typeface="arial"/>
              </a:rPr>
              <a:t>Special configuration of the dynamical system allows both convergence and divergence after perturbation.</a:t>
            </a:r>
            <a:endParaRPr sz="2000">
              <a:solidFill>
                <a:schemeClr val="dk1"/>
              </a:solidFill>
              <a:latin typeface="arial"/>
              <a:ea typeface="arial"/>
              <a:cs typeface="arial"/>
              <a:sym typeface="arial"/>
            </a:endParaRPr>
          </a:p>
          <a:p>
            <a:pPr indent="0" lvl="0" marL="0" marR="0" rtl="0" algn="l">
              <a:lnSpc>
                <a:spcPct val="140000"/>
              </a:lnSpc>
              <a:spcBef>
                <a:spcPts val="0"/>
              </a:spcBef>
              <a:spcAft>
                <a:spcPts val="0"/>
              </a:spcAft>
              <a:buNone/>
            </a:pPr>
            <a:r>
              <a:t/>
            </a:r>
            <a:endParaRPr sz="2000">
              <a:solidFill>
                <a:schemeClr val="dk1"/>
              </a:solidFill>
              <a:latin typeface="arial"/>
              <a:ea typeface="arial"/>
              <a:cs typeface="arial"/>
              <a:sym typeface="arial"/>
            </a:endParaRPr>
          </a:p>
          <a:p>
            <a:pPr indent="0" lvl="0" marL="0" marR="0" rtl="0" algn="l">
              <a:lnSpc>
                <a:spcPct val="140000"/>
              </a:lnSpc>
              <a:spcBef>
                <a:spcPts val="0"/>
              </a:spcBef>
              <a:spcAft>
                <a:spcPts val="0"/>
              </a:spcAft>
              <a:buNone/>
            </a:pPr>
            <a:r>
              <a:t/>
            </a:r>
            <a:endParaRPr sz="2000">
              <a:solidFill>
                <a:schemeClr val="dk1"/>
              </a:solidFill>
              <a:latin typeface="arial"/>
              <a:ea typeface="arial"/>
              <a:cs typeface="arial"/>
              <a:sym typeface="arial"/>
            </a:endParaRPr>
          </a:p>
        </p:txBody>
      </p:sp>
      <p:sp>
        <p:nvSpPr>
          <p:cNvPr id="319" name="Google Shape;319;p47"/>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7"/>
          <p:cNvSpPr txBox="1"/>
          <p:nvPr/>
        </p:nvSpPr>
        <p:spPr>
          <a:xfrm>
            <a:off x="130625" y="4656125"/>
            <a:ext cx="70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Introduction - Research Question - Model - Results - </a:t>
            </a:r>
            <a:r>
              <a:rPr b="1" lang="en"/>
              <a:t>Conclusion</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8"/>
          <p:cNvSpPr txBox="1"/>
          <p:nvPr>
            <p:ph type="title"/>
          </p:nvPr>
        </p:nvSpPr>
        <p:spPr>
          <a:xfrm>
            <a:off x="457200" y="228600"/>
            <a:ext cx="6935400" cy="14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Following</a:t>
            </a:r>
            <a:endParaRPr/>
          </a:p>
        </p:txBody>
      </p:sp>
      <p:sp>
        <p:nvSpPr>
          <p:cNvPr id="326" name="Google Shape;326;p48"/>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1000"/>
              </a:spcBef>
              <a:spcAft>
                <a:spcPts val="0"/>
              </a:spcAft>
              <a:buNone/>
            </a:pPr>
            <a:r>
              <a:rPr lang="en"/>
              <a:t>Phase space </a:t>
            </a:r>
            <a:endParaRPr/>
          </a:p>
        </p:txBody>
      </p:sp>
      <p:sp>
        <p:nvSpPr>
          <p:cNvPr id="327" name="Google Shape;327;p48"/>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28" name="Google Shape;328;p48" title="Screenshot 2026-02-11 at 3.26.14 PM.png"/>
          <p:cNvPicPr preferRelativeResize="0"/>
          <p:nvPr/>
        </p:nvPicPr>
        <p:blipFill>
          <a:blip r:embed="rId3">
            <a:alphaModFix/>
          </a:blip>
          <a:stretch>
            <a:fillRect/>
          </a:stretch>
        </p:blipFill>
        <p:spPr>
          <a:xfrm>
            <a:off x="2887650" y="1374296"/>
            <a:ext cx="4504949" cy="27669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9"/>
          <p:cNvSpPr txBox="1"/>
          <p:nvPr>
            <p:ph type="title"/>
          </p:nvPr>
        </p:nvSpPr>
        <p:spPr>
          <a:xfrm>
            <a:off x="457200" y="228600"/>
            <a:ext cx="6935400" cy="14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Following</a:t>
            </a:r>
            <a:endParaRPr/>
          </a:p>
        </p:txBody>
      </p:sp>
      <p:sp>
        <p:nvSpPr>
          <p:cNvPr id="334" name="Google Shape;334;p49"/>
          <p:cNvSpPr txBox="1"/>
          <p:nvPr>
            <p:ph idx="1" type="body"/>
          </p:nvPr>
        </p:nvSpPr>
        <p:spPr>
          <a:xfrm>
            <a:off x="457200" y="1203480"/>
            <a:ext cx="8229300" cy="2982900"/>
          </a:xfrm>
          <a:prstGeom prst="rect">
            <a:avLst/>
          </a:prstGeom>
        </p:spPr>
        <p:txBody>
          <a:bodyPr anchorCtr="0" anchor="t" bIns="0" lIns="0" spcFirstLastPara="1" rIns="0" wrap="square" tIns="0">
            <a:normAutofit/>
          </a:bodyPr>
          <a:lstStyle/>
          <a:p>
            <a:pPr indent="0" lvl="0" marL="0" rtl="0" algn="l">
              <a:spcBef>
                <a:spcPts val="1000"/>
              </a:spcBef>
              <a:spcAft>
                <a:spcPts val="0"/>
              </a:spcAft>
              <a:buNone/>
            </a:pPr>
            <a:r>
              <a:rPr lang="en"/>
              <a:t>Flux tube</a:t>
            </a:r>
            <a:endParaRPr/>
          </a:p>
        </p:txBody>
      </p:sp>
      <p:sp>
        <p:nvSpPr>
          <p:cNvPr id="335" name="Google Shape;335;p49"/>
          <p:cNvSpPr txBox="1"/>
          <p:nvPr>
            <p:ph idx="12" type="sldNum"/>
          </p:nvPr>
        </p:nvSpPr>
        <p:spPr>
          <a:xfrm>
            <a:off x="8456309" y="46594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36" name="Google Shape;336;p49" title="Screenshot 2026-02-11 at 21.16.29.png"/>
          <p:cNvPicPr preferRelativeResize="0"/>
          <p:nvPr/>
        </p:nvPicPr>
        <p:blipFill>
          <a:blip r:embed="rId3">
            <a:alphaModFix/>
          </a:blip>
          <a:stretch>
            <a:fillRect/>
          </a:stretch>
        </p:blipFill>
        <p:spPr>
          <a:xfrm>
            <a:off x="3028175" y="1055924"/>
            <a:ext cx="2643939" cy="360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nology Launches by Slidesgo">
  <a:themeElements>
    <a:clrScheme name="Simple Light">
      <a:dk1>
        <a:srgbClr val="191919"/>
      </a:dk1>
      <a:lt1>
        <a:srgbClr val="EEEEEE"/>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